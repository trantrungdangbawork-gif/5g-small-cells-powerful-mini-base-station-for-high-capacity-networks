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Public Sans" charset="1" panose="00000000000000000000"/>
      <p:regular r:id="rId27"/>
    </p:embeddedFont>
    <p:embeddedFont>
      <p:font typeface="K2D Bold" charset="1" panose="00000800000000000000"/>
      <p:regular r:id="rId28"/>
    </p:embeddedFont>
    <p:embeddedFont>
      <p:font typeface="Public Sans Bold" charset="1" panose="00000000000000000000"/>
      <p:regular r:id="rId29"/>
    </p:embeddedFont>
    <p:embeddedFont>
      <p:font typeface="K2D" charset="1" panose="00000500000000000000"/>
      <p:regular r:id="rId30"/>
    </p:embeddedFont>
    <p:embeddedFont>
      <p:font typeface="Helios" charset="1" panose="020B050402020202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pn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16" Target="../media/image23.png" Type="http://schemas.openxmlformats.org/officeDocument/2006/relationships/image"/><Relationship Id="rId17" Target="../media/image24.svg" Type="http://schemas.openxmlformats.org/officeDocument/2006/relationships/image"/><Relationship Id="rId18" Target="../media/image25.png" Type="http://schemas.openxmlformats.org/officeDocument/2006/relationships/image"/><Relationship Id="rId19" Target="../media/image26.svg" Type="http://schemas.openxmlformats.org/officeDocument/2006/relationships/image"/><Relationship Id="rId2" Target="../media/image9.png" Type="http://schemas.openxmlformats.org/officeDocument/2006/relationships/image"/><Relationship Id="rId20" Target="../media/image27.png" Type="http://schemas.openxmlformats.org/officeDocument/2006/relationships/image"/><Relationship Id="rId21" Target="../media/image28.svg" Type="http://schemas.openxmlformats.org/officeDocument/2006/relationships/image"/><Relationship Id="rId22" Target="../media/image29.png" Type="http://schemas.openxmlformats.org/officeDocument/2006/relationships/image"/><Relationship Id="rId23" Target="../media/image30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51.jpeg" Type="http://schemas.openxmlformats.org/officeDocument/2006/relationships/image"/><Relationship Id="rId5" Target="../media/image52.png" Type="http://schemas.openxmlformats.org/officeDocument/2006/relationships/image"/><Relationship Id="rId6" Target="../media/image53.jpeg" Type="http://schemas.openxmlformats.org/officeDocument/2006/relationships/image"/><Relationship Id="rId7" Target="../media/image54.jpeg" Type="http://schemas.openxmlformats.org/officeDocument/2006/relationships/image"/><Relationship Id="rId8" Target="../media/image5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57.svg" Type="http://schemas.openxmlformats.org/officeDocument/2006/relationships/image"/><Relationship Id="rId4" Target="../media/image8.jpe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804353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6"/>
                </a:lnTo>
                <a:lnTo>
                  <a:pt x="0" y="3608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3373608"/>
            <a:ext cx="1828800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2A2E3A"/>
                </a:solidFill>
                <a:latin typeface="Public Sans"/>
                <a:ea typeface="Public Sans"/>
                <a:cs typeface="Public Sans"/>
                <a:sym typeface="Public Sans"/>
              </a:rPr>
              <a:t>PROJECT REPORT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4972050"/>
            <a:ext cx="18288000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9"/>
              </a:lnSpc>
            </a:pPr>
            <a:r>
              <a:rPr lang="en-US" sz="5799" b="true">
                <a:solidFill>
                  <a:srgbClr val="153969"/>
                </a:solidFill>
                <a:latin typeface="K2D Bold"/>
                <a:ea typeface="K2D Bold"/>
                <a:cs typeface="K2D Bold"/>
                <a:sym typeface="K2D Bold"/>
              </a:rPr>
              <a:t>5G SMALL CELLS: POWERFUL MINI BASE STATION</a:t>
            </a:r>
          </a:p>
          <a:p>
            <a:pPr algn="ctr">
              <a:lnSpc>
                <a:spcPts val="6959"/>
              </a:lnSpc>
            </a:pPr>
            <a:r>
              <a:rPr lang="en-US" sz="5799" b="true">
                <a:solidFill>
                  <a:srgbClr val="153969"/>
                </a:solidFill>
                <a:latin typeface="K2D Bold"/>
                <a:ea typeface="K2D Bold"/>
                <a:cs typeface="K2D Bold"/>
                <a:sym typeface="K2D Bold"/>
              </a:rPr>
              <a:t>FOR HIGH-CAPACITY NETWORKS</a:t>
            </a:r>
          </a:p>
          <a:p>
            <a:pPr algn="ctr">
              <a:lnSpc>
                <a:spcPts val="695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179612" y="1804353"/>
            <a:ext cx="3797526" cy="1254930"/>
          </a:xfrm>
          <a:custGeom>
            <a:avLst/>
            <a:gdLst/>
            <a:ahLst/>
            <a:cxnLst/>
            <a:rect r="r" b="b" t="t" l="l"/>
            <a:pathLst>
              <a:path h="1254930" w="3797526">
                <a:moveTo>
                  <a:pt x="0" y="0"/>
                </a:moveTo>
                <a:lnTo>
                  <a:pt x="3797526" y="0"/>
                </a:lnTo>
                <a:lnTo>
                  <a:pt x="3797526" y="1254930"/>
                </a:lnTo>
                <a:lnTo>
                  <a:pt x="0" y="12549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-21212"/>
            <a:ext cx="18288000" cy="178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900" b="tru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Vietnam National University Ho Chi Minh</a:t>
            </a:r>
          </a:p>
          <a:p>
            <a:pPr algn="ctr">
              <a:lnSpc>
                <a:spcPts val="4680"/>
              </a:lnSpc>
            </a:pPr>
            <a:r>
              <a:rPr lang="en-US" sz="3900" b="tru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University of Science</a:t>
            </a:r>
          </a:p>
          <a:p>
            <a:pPr algn="ctr">
              <a:lnSpc>
                <a:spcPts val="4680"/>
              </a:lnSpc>
            </a:pPr>
            <a:r>
              <a:rPr lang="en-US" sz="3900" b="tru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Faculty of Electronics - Telecommunications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268838"/>
            <a:ext cx="18288000" cy="8018162"/>
            <a:chOff x="0" y="0"/>
            <a:chExt cx="4816593" cy="21117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111779"/>
            </a:xfrm>
            <a:custGeom>
              <a:avLst/>
              <a:gdLst/>
              <a:ahLst/>
              <a:cxnLst/>
              <a:rect r="r" b="b" t="t" l="l"/>
              <a:pathLst>
                <a:path h="211177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11779"/>
                  </a:lnTo>
                  <a:lnTo>
                    <a:pt x="0" y="211177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2178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333203" y="9678747"/>
            <a:ext cx="1621594" cy="1621594"/>
          </a:xfrm>
          <a:custGeom>
            <a:avLst/>
            <a:gdLst/>
            <a:ahLst/>
            <a:cxnLst/>
            <a:rect r="r" b="b" t="t" l="l"/>
            <a:pathLst>
              <a:path h="1621594" w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262068" y="-850323"/>
            <a:ext cx="18550068" cy="3119161"/>
            <a:chOff x="0" y="0"/>
            <a:chExt cx="24733424" cy="41588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112527" y="34130"/>
              <a:ext cx="1772719" cy="1772719"/>
            </a:xfrm>
            <a:custGeom>
              <a:avLst/>
              <a:gdLst/>
              <a:ahLst/>
              <a:cxnLst/>
              <a:rect r="r" b="b" t="t" l="l"/>
              <a:pathLst>
                <a:path h="1772719" w="1772719">
                  <a:moveTo>
                    <a:pt x="0" y="0"/>
                  </a:moveTo>
                  <a:lnTo>
                    <a:pt x="1772719" y="0"/>
                  </a:lnTo>
                  <a:lnTo>
                    <a:pt x="1772719" y="1772719"/>
                  </a:lnTo>
                  <a:lnTo>
                    <a:pt x="0" y="17727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8" id="8"/>
            <p:cNvGrpSpPr/>
            <p:nvPr/>
          </p:nvGrpSpPr>
          <p:grpSpPr>
            <a:xfrm rot="0">
              <a:off x="206536" y="0"/>
              <a:ext cx="24526888" cy="4114800"/>
              <a:chOff x="0" y="0"/>
              <a:chExt cx="4844817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84481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4844817">
                    <a:moveTo>
                      <a:pt x="0" y="0"/>
                    </a:moveTo>
                    <a:lnTo>
                      <a:pt x="4844817" y="0"/>
                    </a:lnTo>
                    <a:lnTo>
                      <a:pt x="4844817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66675"/>
                <a:ext cx="4844817" cy="879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34130"/>
              <a:ext cx="24733424" cy="4124752"/>
              <a:chOff x="0" y="0"/>
              <a:chExt cx="24733424" cy="4124752"/>
            </a:xfrm>
          </p:grpSpPr>
          <p:pic>
            <p:nvPicPr>
              <p:cNvPr name="Picture 12" id="12"/>
              <p:cNvPicPr>
                <a:picLocks noChangeAspect="true"/>
              </p:cNvPicPr>
              <p:nvPr/>
            </p:nvPicPr>
            <p:blipFill>
              <a:blip r:embed="rId6">
                <a:alphaModFix amt="14000"/>
              </a:blip>
              <a:srcRect l="0" t="30901" r="0" b="44067"/>
              <a:stretch>
                <a:fillRect/>
              </a:stretch>
            </p:blipFill>
            <p:spPr>
              <a:xfrm flipH="false" flipV="false">
                <a:off x="0" y="0"/>
                <a:ext cx="24733424" cy="4124752"/>
              </a:xfrm>
              <a:prstGeom prst="rect">
                <a:avLst/>
              </a:prstGeom>
            </p:spPr>
          </p:pic>
        </p:grpSp>
        <p:sp>
          <p:nvSpPr>
            <p:cNvPr name="TextBox 13" id="13"/>
            <p:cNvSpPr txBox="true"/>
            <p:nvPr/>
          </p:nvSpPr>
          <p:spPr>
            <a:xfrm rot="0">
              <a:off x="7617129" y="1435104"/>
              <a:ext cx="9848590" cy="1693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00"/>
                </a:lnSpc>
              </a:pPr>
              <a:r>
                <a:rPr lang="en-US" b="true" sz="8000">
                  <a:solidFill>
                    <a:srgbClr val="FFFFFF"/>
                  </a:solidFill>
                  <a:latin typeface="K2D Bold"/>
                  <a:ea typeface="K2D Bold"/>
                  <a:cs typeface="K2D Bold"/>
                  <a:sym typeface="K2D Bold"/>
                </a:rPr>
                <a:t>CONTENT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46587" y="2887197"/>
            <a:ext cx="17594826" cy="6371103"/>
            <a:chOff x="0" y="0"/>
            <a:chExt cx="23459768" cy="8494805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1579386" cy="1854200"/>
              <a:chOff x="0" y="0"/>
              <a:chExt cx="2287286" cy="366262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287286" cy="366262"/>
              </a:xfrm>
              <a:custGeom>
                <a:avLst/>
                <a:gdLst/>
                <a:ahLst/>
                <a:cxnLst/>
                <a:rect r="r" b="b" t="t" l="l"/>
                <a:pathLst>
                  <a:path h="366262" w="2287286">
                    <a:moveTo>
                      <a:pt x="45464" y="0"/>
                    </a:moveTo>
                    <a:lnTo>
                      <a:pt x="2241822" y="0"/>
                    </a:lnTo>
                    <a:cubicBezTo>
                      <a:pt x="2266931" y="0"/>
                      <a:pt x="2287286" y="20355"/>
                      <a:pt x="2287286" y="45464"/>
                    </a:cubicBezTo>
                    <a:lnTo>
                      <a:pt x="2287286" y="320797"/>
                    </a:lnTo>
                    <a:cubicBezTo>
                      <a:pt x="2287286" y="332855"/>
                      <a:pt x="2282496" y="344419"/>
                      <a:pt x="2273970" y="352945"/>
                    </a:cubicBezTo>
                    <a:cubicBezTo>
                      <a:pt x="2265444" y="361472"/>
                      <a:pt x="2253880" y="366262"/>
                      <a:pt x="2241822" y="366262"/>
                    </a:cubicBezTo>
                    <a:lnTo>
                      <a:pt x="45464" y="366262"/>
                    </a:lnTo>
                    <a:cubicBezTo>
                      <a:pt x="20355" y="366262"/>
                      <a:pt x="0" y="345907"/>
                      <a:pt x="0" y="320797"/>
                    </a:cubicBezTo>
                    <a:lnTo>
                      <a:pt x="0" y="45464"/>
                    </a:lnTo>
                    <a:cubicBezTo>
                      <a:pt x="0" y="20355"/>
                      <a:pt x="20355" y="0"/>
                      <a:pt x="45464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66675"/>
                <a:ext cx="2287286" cy="4329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040"/>
                  </a:lnSpc>
                </a:pPr>
                <a:r>
                  <a:rPr lang="en-US" b="true" sz="3600">
                    <a:solidFill>
                      <a:srgbClr val="FFFFFF"/>
                    </a:solidFill>
                    <a:latin typeface="K2D Bold"/>
                    <a:ea typeface="K2D Bold"/>
                    <a:cs typeface="K2D Bold"/>
                    <a:sym typeface="K2D Bold"/>
                  </a:rPr>
                  <a:t>   INTRODUCTION</a:t>
                </a: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186134" y="357505"/>
              <a:ext cx="1570314" cy="1053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19"/>
                </a:lnSpc>
              </a:pPr>
              <a:r>
                <a:rPr lang="en-US" sz="4800" b="true">
                  <a:solidFill>
                    <a:srgbClr val="FFFFFF"/>
                  </a:solidFill>
                  <a:latin typeface="K2D Bold"/>
                  <a:ea typeface="K2D Bold"/>
                  <a:cs typeface="K2D Bold"/>
                  <a:sym typeface="K2D Bold"/>
                </a:rPr>
                <a:t>1</a:t>
              </a:r>
            </a:p>
          </p:txBody>
        </p:sp>
        <p:grpSp>
          <p:nvGrpSpPr>
            <p:cNvPr name="Group 19" id="19"/>
            <p:cNvGrpSpPr/>
            <p:nvPr/>
          </p:nvGrpSpPr>
          <p:grpSpPr>
            <a:xfrm rot="0">
              <a:off x="11880382" y="5013924"/>
              <a:ext cx="11579386" cy="1854200"/>
              <a:chOff x="0" y="0"/>
              <a:chExt cx="2287286" cy="36626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287286" cy="366262"/>
              </a:xfrm>
              <a:custGeom>
                <a:avLst/>
                <a:gdLst/>
                <a:ahLst/>
                <a:cxnLst/>
                <a:rect r="r" b="b" t="t" l="l"/>
                <a:pathLst>
                  <a:path h="366262" w="2287286">
                    <a:moveTo>
                      <a:pt x="45464" y="0"/>
                    </a:moveTo>
                    <a:lnTo>
                      <a:pt x="2241822" y="0"/>
                    </a:lnTo>
                    <a:cubicBezTo>
                      <a:pt x="2266931" y="0"/>
                      <a:pt x="2287286" y="20355"/>
                      <a:pt x="2287286" y="45464"/>
                    </a:cubicBezTo>
                    <a:lnTo>
                      <a:pt x="2287286" y="320797"/>
                    </a:lnTo>
                    <a:cubicBezTo>
                      <a:pt x="2287286" y="332855"/>
                      <a:pt x="2282496" y="344419"/>
                      <a:pt x="2273970" y="352945"/>
                    </a:cubicBezTo>
                    <a:cubicBezTo>
                      <a:pt x="2265444" y="361472"/>
                      <a:pt x="2253880" y="366262"/>
                      <a:pt x="2241822" y="366262"/>
                    </a:cubicBezTo>
                    <a:lnTo>
                      <a:pt x="45464" y="366262"/>
                    </a:lnTo>
                    <a:cubicBezTo>
                      <a:pt x="20355" y="366262"/>
                      <a:pt x="0" y="345907"/>
                      <a:pt x="0" y="320797"/>
                    </a:cubicBezTo>
                    <a:lnTo>
                      <a:pt x="0" y="45464"/>
                    </a:lnTo>
                    <a:cubicBezTo>
                      <a:pt x="0" y="20355"/>
                      <a:pt x="20355" y="0"/>
                      <a:pt x="45464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66675"/>
                <a:ext cx="2287286" cy="4329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040"/>
                  </a:lnSpc>
                </a:pPr>
                <a:r>
                  <a:rPr lang="en-US" b="true" sz="3600">
                    <a:solidFill>
                      <a:srgbClr val="FFFFFF"/>
                    </a:solidFill>
                    <a:latin typeface="K2D Bold"/>
                    <a:ea typeface="K2D Bold"/>
                    <a:cs typeface="K2D Bold"/>
                    <a:sym typeface="K2D Bold"/>
                  </a:rPr>
                  <a:t>  CONCLUSION</a:t>
                </a: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1880382" y="5371429"/>
              <a:ext cx="1570314" cy="1053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19"/>
                </a:lnSpc>
              </a:pPr>
              <a:r>
                <a:rPr lang="en-US" sz="4800" b="true">
                  <a:solidFill>
                    <a:srgbClr val="FFFFFF"/>
                  </a:solidFill>
                  <a:latin typeface="K2D Bold"/>
                  <a:ea typeface="K2D Bold"/>
                  <a:cs typeface="K2D Bold"/>
                  <a:sym typeface="K2D Bold"/>
                </a:rPr>
                <a:t>5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0" y="3447062"/>
              <a:ext cx="11579386" cy="1854200"/>
              <a:chOff x="0" y="0"/>
              <a:chExt cx="2287286" cy="366262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287286" cy="366262"/>
              </a:xfrm>
              <a:custGeom>
                <a:avLst/>
                <a:gdLst/>
                <a:ahLst/>
                <a:cxnLst/>
                <a:rect r="r" b="b" t="t" l="l"/>
                <a:pathLst>
                  <a:path h="366262" w="2287286">
                    <a:moveTo>
                      <a:pt x="45464" y="0"/>
                    </a:moveTo>
                    <a:lnTo>
                      <a:pt x="2241822" y="0"/>
                    </a:lnTo>
                    <a:cubicBezTo>
                      <a:pt x="2266931" y="0"/>
                      <a:pt x="2287286" y="20355"/>
                      <a:pt x="2287286" y="45464"/>
                    </a:cubicBezTo>
                    <a:lnTo>
                      <a:pt x="2287286" y="320797"/>
                    </a:lnTo>
                    <a:cubicBezTo>
                      <a:pt x="2287286" y="332855"/>
                      <a:pt x="2282496" y="344419"/>
                      <a:pt x="2273970" y="352945"/>
                    </a:cubicBezTo>
                    <a:cubicBezTo>
                      <a:pt x="2265444" y="361472"/>
                      <a:pt x="2253880" y="366262"/>
                      <a:pt x="2241822" y="366262"/>
                    </a:cubicBezTo>
                    <a:lnTo>
                      <a:pt x="45464" y="366262"/>
                    </a:lnTo>
                    <a:cubicBezTo>
                      <a:pt x="20355" y="366262"/>
                      <a:pt x="0" y="345907"/>
                      <a:pt x="0" y="320797"/>
                    </a:cubicBezTo>
                    <a:lnTo>
                      <a:pt x="0" y="45464"/>
                    </a:lnTo>
                    <a:cubicBezTo>
                      <a:pt x="0" y="20355"/>
                      <a:pt x="20355" y="0"/>
                      <a:pt x="45464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66675"/>
                <a:ext cx="2287286" cy="4329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040"/>
                  </a:lnSpc>
                </a:pPr>
                <a:r>
                  <a:rPr lang="en-US" b="true" sz="3600">
                    <a:solidFill>
                      <a:srgbClr val="FFFFFF"/>
                    </a:solidFill>
                    <a:latin typeface="K2D Bold"/>
                    <a:ea typeface="K2D Bold"/>
                    <a:cs typeface="K2D Bold"/>
                    <a:sym typeface="K2D Bold"/>
                  </a:rPr>
                  <a:t>SYSTEM MODEL </a:t>
                </a: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0" y="3804567"/>
              <a:ext cx="1570314" cy="1053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19"/>
                </a:lnSpc>
              </a:pPr>
              <a:r>
                <a:rPr lang="en-US" sz="4800" b="true">
                  <a:solidFill>
                    <a:srgbClr val="FFFFFF"/>
                  </a:solidFill>
                  <a:latin typeface="K2D Bold"/>
                  <a:ea typeface="K2D Bold"/>
                  <a:cs typeface="K2D Bold"/>
                  <a:sym typeface="K2D Bold"/>
                </a:rPr>
                <a:t>2</a:t>
              </a:r>
            </a:p>
          </p:txBody>
        </p:sp>
        <p:grpSp>
          <p:nvGrpSpPr>
            <p:cNvPr name="Group 27" id="27"/>
            <p:cNvGrpSpPr/>
            <p:nvPr/>
          </p:nvGrpSpPr>
          <p:grpSpPr>
            <a:xfrm rot="0">
              <a:off x="0" y="6640605"/>
              <a:ext cx="11579386" cy="1854200"/>
              <a:chOff x="0" y="0"/>
              <a:chExt cx="2287286" cy="366262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287286" cy="366262"/>
              </a:xfrm>
              <a:custGeom>
                <a:avLst/>
                <a:gdLst/>
                <a:ahLst/>
                <a:cxnLst/>
                <a:rect r="r" b="b" t="t" l="l"/>
                <a:pathLst>
                  <a:path h="366262" w="2287286">
                    <a:moveTo>
                      <a:pt x="45464" y="0"/>
                    </a:moveTo>
                    <a:lnTo>
                      <a:pt x="2241822" y="0"/>
                    </a:lnTo>
                    <a:cubicBezTo>
                      <a:pt x="2266931" y="0"/>
                      <a:pt x="2287286" y="20355"/>
                      <a:pt x="2287286" y="45464"/>
                    </a:cubicBezTo>
                    <a:lnTo>
                      <a:pt x="2287286" y="320797"/>
                    </a:lnTo>
                    <a:cubicBezTo>
                      <a:pt x="2287286" y="332855"/>
                      <a:pt x="2282496" y="344419"/>
                      <a:pt x="2273970" y="352945"/>
                    </a:cubicBezTo>
                    <a:cubicBezTo>
                      <a:pt x="2265444" y="361472"/>
                      <a:pt x="2253880" y="366262"/>
                      <a:pt x="2241822" y="366262"/>
                    </a:cubicBezTo>
                    <a:lnTo>
                      <a:pt x="45464" y="366262"/>
                    </a:lnTo>
                    <a:cubicBezTo>
                      <a:pt x="20355" y="366262"/>
                      <a:pt x="0" y="345907"/>
                      <a:pt x="0" y="320797"/>
                    </a:cubicBezTo>
                    <a:lnTo>
                      <a:pt x="0" y="45464"/>
                    </a:lnTo>
                    <a:cubicBezTo>
                      <a:pt x="0" y="20355"/>
                      <a:pt x="20355" y="0"/>
                      <a:pt x="45464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66675"/>
                <a:ext cx="2287286" cy="4329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040"/>
                  </a:lnSpc>
                </a:pPr>
                <a:r>
                  <a:rPr lang="en-US" b="true" sz="3600">
                    <a:solidFill>
                      <a:srgbClr val="FFFFFF"/>
                    </a:solidFill>
                    <a:latin typeface="K2D Bold"/>
                    <a:ea typeface="K2D Bold"/>
                    <a:cs typeface="K2D Bold"/>
                    <a:sym typeface="K2D Bold"/>
                  </a:rPr>
                  <a:t>TECHNICAL COMPONENTS </a:t>
                </a: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0" y="6998110"/>
              <a:ext cx="1570314" cy="1053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19"/>
                </a:lnSpc>
              </a:pPr>
              <a:r>
                <a:rPr lang="en-US" sz="4800" b="true">
                  <a:solidFill>
                    <a:srgbClr val="FFFFFF"/>
                  </a:solidFill>
                  <a:latin typeface="K2D Bold"/>
                  <a:ea typeface="K2D Bold"/>
                  <a:cs typeface="K2D Bold"/>
                  <a:sym typeface="K2D Bold"/>
                </a:rPr>
                <a:t>3</a:t>
              </a:r>
            </a:p>
          </p:txBody>
        </p:sp>
        <p:grpSp>
          <p:nvGrpSpPr>
            <p:cNvPr name="Group 31" id="31"/>
            <p:cNvGrpSpPr/>
            <p:nvPr/>
          </p:nvGrpSpPr>
          <p:grpSpPr>
            <a:xfrm rot="0">
              <a:off x="11880382" y="1854200"/>
              <a:ext cx="11579386" cy="1854200"/>
              <a:chOff x="0" y="0"/>
              <a:chExt cx="2287286" cy="366262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287286" cy="366262"/>
              </a:xfrm>
              <a:custGeom>
                <a:avLst/>
                <a:gdLst/>
                <a:ahLst/>
                <a:cxnLst/>
                <a:rect r="r" b="b" t="t" l="l"/>
                <a:pathLst>
                  <a:path h="366262" w="2287286">
                    <a:moveTo>
                      <a:pt x="45464" y="0"/>
                    </a:moveTo>
                    <a:lnTo>
                      <a:pt x="2241822" y="0"/>
                    </a:lnTo>
                    <a:cubicBezTo>
                      <a:pt x="2266931" y="0"/>
                      <a:pt x="2287286" y="20355"/>
                      <a:pt x="2287286" y="45464"/>
                    </a:cubicBezTo>
                    <a:lnTo>
                      <a:pt x="2287286" y="320797"/>
                    </a:lnTo>
                    <a:cubicBezTo>
                      <a:pt x="2287286" y="332855"/>
                      <a:pt x="2282496" y="344419"/>
                      <a:pt x="2273970" y="352945"/>
                    </a:cubicBezTo>
                    <a:cubicBezTo>
                      <a:pt x="2265444" y="361472"/>
                      <a:pt x="2253880" y="366262"/>
                      <a:pt x="2241822" y="366262"/>
                    </a:cubicBezTo>
                    <a:lnTo>
                      <a:pt x="45464" y="366262"/>
                    </a:lnTo>
                    <a:cubicBezTo>
                      <a:pt x="20355" y="366262"/>
                      <a:pt x="0" y="345907"/>
                      <a:pt x="0" y="320797"/>
                    </a:cubicBezTo>
                    <a:lnTo>
                      <a:pt x="0" y="45464"/>
                    </a:lnTo>
                    <a:cubicBezTo>
                      <a:pt x="0" y="20355"/>
                      <a:pt x="20355" y="0"/>
                      <a:pt x="45464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66675"/>
                <a:ext cx="2287286" cy="4329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040"/>
                  </a:lnSpc>
                </a:pPr>
                <a:r>
                  <a:rPr lang="en-US" b="true" sz="3600">
                    <a:solidFill>
                      <a:srgbClr val="FFFFFF"/>
                    </a:solidFill>
                    <a:latin typeface="K2D Bold"/>
                    <a:ea typeface="K2D Bold"/>
                    <a:cs typeface="K2D Bold"/>
                    <a:sym typeface="K2D Bold"/>
                  </a:rPr>
                  <a:t>  NEW KNOWLEDGE</a:t>
                </a: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11880382" y="2211705"/>
              <a:ext cx="1570314" cy="1053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19"/>
                </a:lnSpc>
              </a:pPr>
              <a:r>
                <a:rPr lang="en-US" sz="4800" b="true">
                  <a:solidFill>
                    <a:srgbClr val="FFFFFF"/>
                  </a:solidFill>
                  <a:latin typeface="K2D Bold"/>
                  <a:ea typeface="K2D Bold"/>
                  <a:cs typeface="K2D Bold"/>
                  <a:sym typeface="K2D Bol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401619" y="-1836715"/>
            <a:ext cx="13960430" cy="13960430"/>
          </a:xfrm>
          <a:custGeom>
            <a:avLst/>
            <a:gdLst/>
            <a:ahLst/>
            <a:cxnLst/>
            <a:rect r="r" b="b" t="t" l="l"/>
            <a:pathLst>
              <a:path h="13960430" w="13960430">
                <a:moveTo>
                  <a:pt x="0" y="0"/>
                </a:moveTo>
                <a:lnTo>
                  <a:pt x="13960431" y="0"/>
                </a:lnTo>
                <a:lnTo>
                  <a:pt x="13960431" y="13960430"/>
                </a:lnTo>
                <a:lnTo>
                  <a:pt x="0" y="13960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26632" y="5714955"/>
            <a:ext cx="12573123" cy="4572045"/>
          </a:xfrm>
          <a:custGeom>
            <a:avLst/>
            <a:gdLst/>
            <a:ahLst/>
            <a:cxnLst/>
            <a:rect r="r" b="b" t="t" l="l"/>
            <a:pathLst>
              <a:path h="4572045" w="12573123">
                <a:moveTo>
                  <a:pt x="0" y="0"/>
                </a:moveTo>
                <a:lnTo>
                  <a:pt x="12573123" y="0"/>
                </a:lnTo>
                <a:lnTo>
                  <a:pt x="12573123" y="4572045"/>
                </a:lnTo>
                <a:lnTo>
                  <a:pt x="0" y="45720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75481" y="6309634"/>
            <a:ext cx="1444064" cy="1912668"/>
          </a:xfrm>
          <a:custGeom>
            <a:avLst/>
            <a:gdLst/>
            <a:ahLst/>
            <a:cxnLst/>
            <a:rect r="r" b="b" t="t" l="l"/>
            <a:pathLst>
              <a:path h="1912668" w="1444064">
                <a:moveTo>
                  <a:pt x="0" y="0"/>
                </a:moveTo>
                <a:lnTo>
                  <a:pt x="1444064" y="0"/>
                </a:lnTo>
                <a:lnTo>
                  <a:pt x="1444064" y="1912668"/>
                </a:lnTo>
                <a:lnTo>
                  <a:pt x="0" y="19126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667357" y="8801238"/>
            <a:ext cx="1453714" cy="1443142"/>
          </a:xfrm>
          <a:custGeom>
            <a:avLst/>
            <a:gdLst/>
            <a:ahLst/>
            <a:cxnLst/>
            <a:rect r="r" b="b" t="t" l="l"/>
            <a:pathLst>
              <a:path h="1443142" w="1453714">
                <a:moveTo>
                  <a:pt x="0" y="0"/>
                </a:moveTo>
                <a:lnTo>
                  <a:pt x="1453714" y="0"/>
                </a:lnTo>
                <a:lnTo>
                  <a:pt x="1453714" y="1443142"/>
                </a:lnTo>
                <a:lnTo>
                  <a:pt x="0" y="14431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032048" y="8248706"/>
            <a:ext cx="984980" cy="2057400"/>
          </a:xfrm>
          <a:custGeom>
            <a:avLst/>
            <a:gdLst/>
            <a:ahLst/>
            <a:cxnLst/>
            <a:rect r="r" b="b" t="t" l="l"/>
            <a:pathLst>
              <a:path h="2057400" w="984980">
                <a:moveTo>
                  <a:pt x="0" y="0"/>
                </a:moveTo>
                <a:lnTo>
                  <a:pt x="984980" y="0"/>
                </a:lnTo>
                <a:lnTo>
                  <a:pt x="98498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631048" y="8843858"/>
            <a:ext cx="1632762" cy="1530714"/>
          </a:xfrm>
          <a:custGeom>
            <a:avLst/>
            <a:gdLst/>
            <a:ahLst/>
            <a:cxnLst/>
            <a:rect r="r" b="b" t="t" l="l"/>
            <a:pathLst>
              <a:path h="1530714" w="1632762">
                <a:moveTo>
                  <a:pt x="0" y="0"/>
                </a:moveTo>
                <a:lnTo>
                  <a:pt x="1632762" y="0"/>
                </a:lnTo>
                <a:lnTo>
                  <a:pt x="1632762" y="1530714"/>
                </a:lnTo>
                <a:lnTo>
                  <a:pt x="0" y="15307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099398" y="8843858"/>
            <a:ext cx="1621443" cy="1400522"/>
          </a:xfrm>
          <a:custGeom>
            <a:avLst/>
            <a:gdLst/>
            <a:ahLst/>
            <a:cxnLst/>
            <a:rect r="r" b="b" t="t" l="l"/>
            <a:pathLst>
              <a:path h="1400522" w="1621443">
                <a:moveTo>
                  <a:pt x="0" y="0"/>
                </a:moveTo>
                <a:lnTo>
                  <a:pt x="1621443" y="0"/>
                </a:lnTo>
                <a:lnTo>
                  <a:pt x="1621443" y="1400522"/>
                </a:lnTo>
                <a:lnTo>
                  <a:pt x="0" y="140052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738701" y="9521643"/>
            <a:ext cx="604681" cy="765357"/>
          </a:xfrm>
          <a:custGeom>
            <a:avLst/>
            <a:gdLst/>
            <a:ahLst/>
            <a:cxnLst/>
            <a:rect r="r" b="b" t="t" l="l"/>
            <a:pathLst>
              <a:path h="765357" w="604681">
                <a:moveTo>
                  <a:pt x="0" y="0"/>
                </a:moveTo>
                <a:lnTo>
                  <a:pt x="604681" y="0"/>
                </a:lnTo>
                <a:lnTo>
                  <a:pt x="604681" y="765357"/>
                </a:lnTo>
                <a:lnTo>
                  <a:pt x="0" y="76535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236524" y="6309634"/>
            <a:ext cx="1444064" cy="1912668"/>
          </a:xfrm>
          <a:custGeom>
            <a:avLst/>
            <a:gdLst/>
            <a:ahLst/>
            <a:cxnLst/>
            <a:rect r="r" b="b" t="t" l="l"/>
            <a:pathLst>
              <a:path h="1912668" w="1444064">
                <a:moveTo>
                  <a:pt x="0" y="0"/>
                </a:moveTo>
                <a:lnTo>
                  <a:pt x="1444064" y="0"/>
                </a:lnTo>
                <a:lnTo>
                  <a:pt x="1444064" y="1912668"/>
                </a:lnTo>
                <a:lnTo>
                  <a:pt x="0" y="19126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140121" y="9522809"/>
            <a:ext cx="604681" cy="765357"/>
          </a:xfrm>
          <a:custGeom>
            <a:avLst/>
            <a:gdLst/>
            <a:ahLst/>
            <a:cxnLst/>
            <a:rect r="r" b="b" t="t" l="l"/>
            <a:pathLst>
              <a:path h="765357" w="604681">
                <a:moveTo>
                  <a:pt x="0" y="0"/>
                </a:moveTo>
                <a:lnTo>
                  <a:pt x="604681" y="0"/>
                </a:lnTo>
                <a:lnTo>
                  <a:pt x="604681" y="765357"/>
                </a:lnTo>
                <a:lnTo>
                  <a:pt x="0" y="76535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541542" y="9523975"/>
            <a:ext cx="604681" cy="765357"/>
          </a:xfrm>
          <a:custGeom>
            <a:avLst/>
            <a:gdLst/>
            <a:ahLst/>
            <a:cxnLst/>
            <a:rect r="r" b="b" t="t" l="l"/>
            <a:pathLst>
              <a:path h="765357" w="604681">
                <a:moveTo>
                  <a:pt x="0" y="0"/>
                </a:moveTo>
                <a:lnTo>
                  <a:pt x="604681" y="0"/>
                </a:lnTo>
                <a:lnTo>
                  <a:pt x="604681" y="765357"/>
                </a:lnTo>
                <a:lnTo>
                  <a:pt x="0" y="76535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263810" y="7804301"/>
            <a:ext cx="604681" cy="765357"/>
          </a:xfrm>
          <a:custGeom>
            <a:avLst/>
            <a:gdLst/>
            <a:ahLst/>
            <a:cxnLst/>
            <a:rect r="r" b="b" t="t" l="l"/>
            <a:pathLst>
              <a:path h="765357" w="604681">
                <a:moveTo>
                  <a:pt x="0" y="0"/>
                </a:moveTo>
                <a:lnTo>
                  <a:pt x="604681" y="0"/>
                </a:lnTo>
                <a:lnTo>
                  <a:pt x="604681" y="765357"/>
                </a:lnTo>
                <a:lnTo>
                  <a:pt x="0" y="76535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956736" y="7855308"/>
            <a:ext cx="604681" cy="765357"/>
          </a:xfrm>
          <a:custGeom>
            <a:avLst/>
            <a:gdLst/>
            <a:ahLst/>
            <a:cxnLst/>
            <a:rect r="r" b="b" t="t" l="l"/>
            <a:pathLst>
              <a:path h="765357" w="604681">
                <a:moveTo>
                  <a:pt x="0" y="0"/>
                </a:moveTo>
                <a:lnTo>
                  <a:pt x="604682" y="0"/>
                </a:lnTo>
                <a:lnTo>
                  <a:pt x="604682" y="765358"/>
                </a:lnTo>
                <a:lnTo>
                  <a:pt x="0" y="7653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256471" y="7804301"/>
            <a:ext cx="604681" cy="765357"/>
          </a:xfrm>
          <a:custGeom>
            <a:avLst/>
            <a:gdLst/>
            <a:ahLst/>
            <a:cxnLst/>
            <a:rect r="r" b="b" t="t" l="l"/>
            <a:pathLst>
              <a:path h="765357" w="604681">
                <a:moveTo>
                  <a:pt x="0" y="0"/>
                </a:moveTo>
                <a:lnTo>
                  <a:pt x="604681" y="0"/>
                </a:lnTo>
                <a:lnTo>
                  <a:pt x="604681" y="765357"/>
                </a:lnTo>
                <a:lnTo>
                  <a:pt x="0" y="76535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958556" y="9462249"/>
            <a:ext cx="330450" cy="782131"/>
          </a:xfrm>
          <a:custGeom>
            <a:avLst/>
            <a:gdLst/>
            <a:ahLst/>
            <a:cxnLst/>
            <a:rect r="r" b="b" t="t" l="l"/>
            <a:pathLst>
              <a:path h="782131" w="330450">
                <a:moveTo>
                  <a:pt x="0" y="0"/>
                </a:moveTo>
                <a:lnTo>
                  <a:pt x="330450" y="0"/>
                </a:lnTo>
                <a:lnTo>
                  <a:pt x="330450" y="782131"/>
                </a:lnTo>
                <a:lnTo>
                  <a:pt x="0" y="78213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704662" y="9462249"/>
            <a:ext cx="330450" cy="782131"/>
          </a:xfrm>
          <a:custGeom>
            <a:avLst/>
            <a:gdLst/>
            <a:ahLst/>
            <a:cxnLst/>
            <a:rect r="r" b="b" t="t" l="l"/>
            <a:pathLst>
              <a:path h="782131" w="330450">
                <a:moveTo>
                  <a:pt x="0" y="0"/>
                </a:moveTo>
                <a:lnTo>
                  <a:pt x="330451" y="0"/>
                </a:lnTo>
                <a:lnTo>
                  <a:pt x="330451" y="782131"/>
                </a:lnTo>
                <a:lnTo>
                  <a:pt x="0" y="78213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524357" y="9661214"/>
            <a:ext cx="294380" cy="486214"/>
          </a:xfrm>
          <a:custGeom>
            <a:avLst/>
            <a:gdLst/>
            <a:ahLst/>
            <a:cxnLst/>
            <a:rect r="r" b="b" t="t" l="l"/>
            <a:pathLst>
              <a:path h="486214" w="294380">
                <a:moveTo>
                  <a:pt x="0" y="0"/>
                </a:moveTo>
                <a:lnTo>
                  <a:pt x="294380" y="0"/>
                </a:lnTo>
                <a:lnTo>
                  <a:pt x="294380" y="486214"/>
                </a:lnTo>
                <a:lnTo>
                  <a:pt x="0" y="48621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327198" y="9663546"/>
            <a:ext cx="294380" cy="486214"/>
          </a:xfrm>
          <a:custGeom>
            <a:avLst/>
            <a:gdLst/>
            <a:ahLst/>
            <a:cxnLst/>
            <a:rect r="r" b="b" t="t" l="l"/>
            <a:pathLst>
              <a:path h="486214" w="294380">
                <a:moveTo>
                  <a:pt x="0" y="0"/>
                </a:moveTo>
                <a:lnTo>
                  <a:pt x="294380" y="0"/>
                </a:lnTo>
                <a:lnTo>
                  <a:pt x="294380" y="486214"/>
                </a:lnTo>
                <a:lnTo>
                  <a:pt x="0" y="48621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799235" y="9804771"/>
            <a:ext cx="555588" cy="439609"/>
          </a:xfrm>
          <a:custGeom>
            <a:avLst/>
            <a:gdLst/>
            <a:ahLst/>
            <a:cxnLst/>
            <a:rect r="r" b="b" t="t" l="l"/>
            <a:pathLst>
              <a:path h="439609" w="555588">
                <a:moveTo>
                  <a:pt x="0" y="0"/>
                </a:moveTo>
                <a:lnTo>
                  <a:pt x="555588" y="0"/>
                </a:lnTo>
                <a:lnTo>
                  <a:pt x="555588" y="439609"/>
                </a:lnTo>
                <a:lnTo>
                  <a:pt x="0" y="43960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849620" y="8326551"/>
            <a:ext cx="294380" cy="486214"/>
          </a:xfrm>
          <a:custGeom>
            <a:avLst/>
            <a:gdLst/>
            <a:ahLst/>
            <a:cxnLst/>
            <a:rect r="r" b="b" t="t" l="l"/>
            <a:pathLst>
              <a:path h="486214" w="294380">
                <a:moveTo>
                  <a:pt x="0" y="0"/>
                </a:moveTo>
                <a:lnTo>
                  <a:pt x="294380" y="0"/>
                </a:lnTo>
                <a:lnTo>
                  <a:pt x="294380" y="486214"/>
                </a:lnTo>
                <a:lnTo>
                  <a:pt x="0" y="48621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762930" y="8134452"/>
            <a:ext cx="294380" cy="486214"/>
          </a:xfrm>
          <a:custGeom>
            <a:avLst/>
            <a:gdLst/>
            <a:ahLst/>
            <a:cxnLst/>
            <a:rect r="r" b="b" t="t" l="l"/>
            <a:pathLst>
              <a:path h="486214" w="294380">
                <a:moveTo>
                  <a:pt x="0" y="0"/>
                </a:moveTo>
                <a:lnTo>
                  <a:pt x="294380" y="0"/>
                </a:lnTo>
                <a:lnTo>
                  <a:pt x="294380" y="486214"/>
                </a:lnTo>
                <a:lnTo>
                  <a:pt x="0" y="48621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662356" y="8134452"/>
            <a:ext cx="294380" cy="486214"/>
          </a:xfrm>
          <a:custGeom>
            <a:avLst/>
            <a:gdLst/>
            <a:ahLst/>
            <a:cxnLst/>
            <a:rect r="r" b="b" t="t" l="l"/>
            <a:pathLst>
              <a:path h="486214" w="294380">
                <a:moveTo>
                  <a:pt x="0" y="0"/>
                </a:moveTo>
                <a:lnTo>
                  <a:pt x="294380" y="0"/>
                </a:lnTo>
                <a:lnTo>
                  <a:pt x="294380" y="486214"/>
                </a:lnTo>
                <a:lnTo>
                  <a:pt x="0" y="48621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843882" y="8248706"/>
            <a:ext cx="555588" cy="439609"/>
          </a:xfrm>
          <a:custGeom>
            <a:avLst/>
            <a:gdLst/>
            <a:ahLst/>
            <a:cxnLst/>
            <a:rect r="r" b="b" t="t" l="l"/>
            <a:pathLst>
              <a:path h="439609" w="555588">
                <a:moveTo>
                  <a:pt x="0" y="0"/>
                </a:moveTo>
                <a:lnTo>
                  <a:pt x="555588" y="0"/>
                </a:lnTo>
                <a:lnTo>
                  <a:pt x="555588" y="439609"/>
                </a:lnTo>
                <a:lnTo>
                  <a:pt x="0" y="43960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4884523" y="7943873"/>
            <a:ext cx="294380" cy="486214"/>
          </a:xfrm>
          <a:custGeom>
            <a:avLst/>
            <a:gdLst/>
            <a:ahLst/>
            <a:cxnLst/>
            <a:rect r="r" b="b" t="t" l="l"/>
            <a:pathLst>
              <a:path h="486214" w="294380">
                <a:moveTo>
                  <a:pt x="0" y="0"/>
                </a:moveTo>
                <a:lnTo>
                  <a:pt x="294381" y="0"/>
                </a:lnTo>
                <a:lnTo>
                  <a:pt x="294381" y="486214"/>
                </a:lnTo>
                <a:lnTo>
                  <a:pt x="0" y="48621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390120" y="8248706"/>
            <a:ext cx="555588" cy="439609"/>
          </a:xfrm>
          <a:custGeom>
            <a:avLst/>
            <a:gdLst/>
            <a:ahLst/>
            <a:cxnLst/>
            <a:rect r="r" b="b" t="t" l="l"/>
            <a:pathLst>
              <a:path h="439609" w="555588">
                <a:moveTo>
                  <a:pt x="0" y="0"/>
                </a:moveTo>
                <a:lnTo>
                  <a:pt x="555588" y="0"/>
                </a:lnTo>
                <a:lnTo>
                  <a:pt x="555588" y="439609"/>
                </a:lnTo>
                <a:lnTo>
                  <a:pt x="0" y="43960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5756736" y="9692455"/>
            <a:ext cx="223509" cy="224632"/>
          </a:xfrm>
          <a:custGeom>
            <a:avLst/>
            <a:gdLst/>
            <a:ahLst/>
            <a:cxnLst/>
            <a:rect r="r" b="b" t="t" l="l"/>
            <a:pathLst>
              <a:path h="224632" w="223509">
                <a:moveTo>
                  <a:pt x="0" y="0"/>
                </a:moveTo>
                <a:lnTo>
                  <a:pt x="223509" y="0"/>
                </a:lnTo>
                <a:lnTo>
                  <a:pt x="223509" y="224632"/>
                </a:lnTo>
                <a:lnTo>
                  <a:pt x="0" y="22463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929287" y="9661214"/>
            <a:ext cx="223509" cy="224632"/>
          </a:xfrm>
          <a:custGeom>
            <a:avLst/>
            <a:gdLst/>
            <a:ahLst/>
            <a:cxnLst/>
            <a:rect r="r" b="b" t="t" l="l"/>
            <a:pathLst>
              <a:path h="224632" w="223509">
                <a:moveTo>
                  <a:pt x="0" y="0"/>
                </a:moveTo>
                <a:lnTo>
                  <a:pt x="223509" y="0"/>
                </a:lnTo>
                <a:lnTo>
                  <a:pt x="223509" y="224633"/>
                </a:lnTo>
                <a:lnTo>
                  <a:pt x="0" y="224633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8447057" y="7997669"/>
            <a:ext cx="223509" cy="224632"/>
          </a:xfrm>
          <a:custGeom>
            <a:avLst/>
            <a:gdLst/>
            <a:ahLst/>
            <a:cxnLst/>
            <a:rect r="r" b="b" t="t" l="l"/>
            <a:pathLst>
              <a:path h="224632" w="223509">
                <a:moveTo>
                  <a:pt x="0" y="0"/>
                </a:moveTo>
                <a:lnTo>
                  <a:pt x="223509" y="0"/>
                </a:lnTo>
                <a:lnTo>
                  <a:pt x="223509" y="224633"/>
                </a:lnTo>
                <a:lnTo>
                  <a:pt x="0" y="224633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2147322" y="8013355"/>
            <a:ext cx="223509" cy="224632"/>
          </a:xfrm>
          <a:custGeom>
            <a:avLst/>
            <a:gdLst/>
            <a:ahLst/>
            <a:cxnLst/>
            <a:rect r="r" b="b" t="t" l="l"/>
            <a:pathLst>
              <a:path h="224632" w="223509">
                <a:moveTo>
                  <a:pt x="0" y="0"/>
                </a:moveTo>
                <a:lnTo>
                  <a:pt x="223509" y="0"/>
                </a:lnTo>
                <a:lnTo>
                  <a:pt x="223509" y="224632"/>
                </a:lnTo>
                <a:lnTo>
                  <a:pt x="0" y="22463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330621" y="9663546"/>
            <a:ext cx="223509" cy="224632"/>
          </a:xfrm>
          <a:custGeom>
            <a:avLst/>
            <a:gdLst/>
            <a:ahLst/>
            <a:cxnLst/>
            <a:rect r="r" b="b" t="t" l="l"/>
            <a:pathLst>
              <a:path h="224632" w="223509">
                <a:moveTo>
                  <a:pt x="0" y="0"/>
                </a:moveTo>
                <a:lnTo>
                  <a:pt x="223509" y="0"/>
                </a:lnTo>
                <a:lnTo>
                  <a:pt x="223509" y="224632"/>
                </a:lnTo>
                <a:lnTo>
                  <a:pt x="0" y="22463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5454396" y="7962347"/>
            <a:ext cx="223509" cy="224632"/>
          </a:xfrm>
          <a:custGeom>
            <a:avLst/>
            <a:gdLst/>
            <a:ahLst/>
            <a:cxnLst/>
            <a:rect r="r" b="b" t="t" l="l"/>
            <a:pathLst>
              <a:path h="224632" w="223509">
                <a:moveTo>
                  <a:pt x="0" y="0"/>
                </a:moveTo>
                <a:lnTo>
                  <a:pt x="223509" y="0"/>
                </a:lnTo>
                <a:lnTo>
                  <a:pt x="223509" y="224633"/>
                </a:lnTo>
                <a:lnTo>
                  <a:pt x="0" y="224633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9739613" y="6309634"/>
            <a:ext cx="437885" cy="440085"/>
          </a:xfrm>
          <a:custGeom>
            <a:avLst/>
            <a:gdLst/>
            <a:ahLst/>
            <a:cxnLst/>
            <a:rect r="r" b="b" t="t" l="l"/>
            <a:pathLst>
              <a:path h="440085" w="437885">
                <a:moveTo>
                  <a:pt x="0" y="0"/>
                </a:moveTo>
                <a:lnTo>
                  <a:pt x="437885" y="0"/>
                </a:lnTo>
                <a:lnTo>
                  <a:pt x="437885" y="440085"/>
                </a:lnTo>
                <a:lnTo>
                  <a:pt x="0" y="44008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3278570" y="6309634"/>
            <a:ext cx="437885" cy="440085"/>
          </a:xfrm>
          <a:custGeom>
            <a:avLst/>
            <a:gdLst/>
            <a:ahLst/>
            <a:cxnLst/>
            <a:rect r="r" b="b" t="t" l="l"/>
            <a:pathLst>
              <a:path h="440085" w="437885">
                <a:moveTo>
                  <a:pt x="0" y="0"/>
                </a:moveTo>
                <a:lnTo>
                  <a:pt x="437885" y="0"/>
                </a:lnTo>
                <a:lnTo>
                  <a:pt x="437885" y="440085"/>
                </a:lnTo>
                <a:lnTo>
                  <a:pt x="0" y="44008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8256471" y="3061183"/>
            <a:ext cx="9574809" cy="2034647"/>
          </a:xfrm>
          <a:custGeom>
            <a:avLst/>
            <a:gdLst/>
            <a:ahLst/>
            <a:cxnLst/>
            <a:rect r="r" b="b" t="t" l="l"/>
            <a:pathLst>
              <a:path h="2034647" w="9574809">
                <a:moveTo>
                  <a:pt x="0" y="0"/>
                </a:moveTo>
                <a:lnTo>
                  <a:pt x="9574809" y="0"/>
                </a:lnTo>
                <a:lnTo>
                  <a:pt x="9574809" y="2034647"/>
                </a:lnTo>
                <a:lnTo>
                  <a:pt x="0" y="2034647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292525" y="4483883"/>
            <a:ext cx="7900193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b="true" sz="8000">
                <a:solidFill>
                  <a:srgbClr val="FFDE59"/>
                </a:solidFill>
                <a:latin typeface="K2D Bold"/>
                <a:ea typeface="K2D Bold"/>
                <a:cs typeface="K2D Bold"/>
                <a:sym typeface="K2D Bold"/>
              </a:rPr>
              <a:t>INTRODUCTION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8700" y="3664733"/>
            <a:ext cx="6070698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000" b="true">
                <a:solidFill>
                  <a:srgbClr val="2A2E3A"/>
                </a:solidFill>
                <a:latin typeface="K2D Bold"/>
                <a:ea typeface="K2D Bold"/>
                <a:cs typeface="K2D Bold"/>
                <a:sym typeface="K2D Bold"/>
              </a:rPr>
              <a:t>PART 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52418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173884" y="1825185"/>
            <a:ext cx="12454038" cy="1087758"/>
            <a:chOff x="0" y="0"/>
            <a:chExt cx="16605384" cy="145034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6605384" cy="1450344"/>
              <a:chOff x="0" y="0"/>
              <a:chExt cx="3280076" cy="286488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280076" cy="286488"/>
              </a:xfrm>
              <a:custGeom>
                <a:avLst/>
                <a:gdLst/>
                <a:ahLst/>
                <a:cxnLst/>
                <a:rect r="r" b="b" t="t" l="l"/>
                <a:pathLst>
                  <a:path h="286488" w="3280076">
                    <a:moveTo>
                      <a:pt x="31704" y="0"/>
                    </a:moveTo>
                    <a:lnTo>
                      <a:pt x="3248372" y="0"/>
                    </a:lnTo>
                    <a:cubicBezTo>
                      <a:pt x="3256781" y="0"/>
                      <a:pt x="3264845" y="3340"/>
                      <a:pt x="3270790" y="9286"/>
                    </a:cubicBezTo>
                    <a:cubicBezTo>
                      <a:pt x="3276736" y="15231"/>
                      <a:pt x="3280076" y="23295"/>
                      <a:pt x="3280076" y="31704"/>
                    </a:cubicBezTo>
                    <a:lnTo>
                      <a:pt x="3280076" y="254784"/>
                    </a:lnTo>
                    <a:cubicBezTo>
                      <a:pt x="3280076" y="263192"/>
                      <a:pt x="3276736" y="271256"/>
                      <a:pt x="3270790" y="277202"/>
                    </a:cubicBezTo>
                    <a:cubicBezTo>
                      <a:pt x="3264845" y="283147"/>
                      <a:pt x="3256781" y="286488"/>
                      <a:pt x="3248372" y="286488"/>
                    </a:cubicBezTo>
                    <a:lnTo>
                      <a:pt x="31704" y="286488"/>
                    </a:lnTo>
                    <a:cubicBezTo>
                      <a:pt x="23295" y="286488"/>
                      <a:pt x="15231" y="283147"/>
                      <a:pt x="9286" y="277202"/>
                    </a:cubicBezTo>
                    <a:cubicBezTo>
                      <a:pt x="3340" y="271256"/>
                      <a:pt x="0" y="263192"/>
                      <a:pt x="0" y="254784"/>
                    </a:cubicBezTo>
                    <a:lnTo>
                      <a:pt x="0" y="31704"/>
                    </a:lnTo>
                    <a:cubicBezTo>
                      <a:pt x="0" y="23295"/>
                      <a:pt x="3340" y="15231"/>
                      <a:pt x="9286" y="9286"/>
                    </a:cubicBezTo>
                    <a:cubicBezTo>
                      <a:pt x="15231" y="3340"/>
                      <a:pt x="23295" y="0"/>
                      <a:pt x="31704" y="0"/>
                    </a:cubicBezTo>
                    <a:close/>
                  </a:path>
                </a:pathLst>
              </a:custGeom>
              <a:solidFill>
                <a:srgbClr val="BAE8ED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66675"/>
                <a:ext cx="3280076" cy="3531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793272" y="339515"/>
              <a:ext cx="15506382" cy="6951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39"/>
                </a:lnSpc>
                <a:spcBef>
                  <a:spcPct val="0"/>
                </a:spcBef>
              </a:pPr>
              <a:r>
                <a:rPr lang="en-US" sz="3099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Ra</a:t>
              </a:r>
              <a:r>
                <a:rPr lang="en-US" sz="3099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pid 5G growth → demand for high-speed, stable connectivity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173884" y="3537719"/>
            <a:ext cx="12454038" cy="1630683"/>
            <a:chOff x="0" y="0"/>
            <a:chExt cx="16605384" cy="2174244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6605384" cy="2174244"/>
              <a:chOff x="0" y="0"/>
              <a:chExt cx="3280076" cy="42948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280076" cy="429480"/>
              </a:xfrm>
              <a:custGeom>
                <a:avLst/>
                <a:gdLst/>
                <a:ahLst/>
                <a:cxnLst/>
                <a:rect r="r" b="b" t="t" l="l"/>
                <a:pathLst>
                  <a:path h="429480" w="3280076">
                    <a:moveTo>
                      <a:pt x="31704" y="0"/>
                    </a:moveTo>
                    <a:lnTo>
                      <a:pt x="3248372" y="0"/>
                    </a:lnTo>
                    <a:cubicBezTo>
                      <a:pt x="3256781" y="0"/>
                      <a:pt x="3264845" y="3340"/>
                      <a:pt x="3270790" y="9286"/>
                    </a:cubicBezTo>
                    <a:cubicBezTo>
                      <a:pt x="3276736" y="15231"/>
                      <a:pt x="3280076" y="23295"/>
                      <a:pt x="3280076" y="31704"/>
                    </a:cubicBezTo>
                    <a:lnTo>
                      <a:pt x="3280076" y="397777"/>
                    </a:lnTo>
                    <a:cubicBezTo>
                      <a:pt x="3280076" y="406185"/>
                      <a:pt x="3276736" y="414249"/>
                      <a:pt x="3270790" y="420194"/>
                    </a:cubicBezTo>
                    <a:cubicBezTo>
                      <a:pt x="3264845" y="426140"/>
                      <a:pt x="3256781" y="429480"/>
                      <a:pt x="3248372" y="429480"/>
                    </a:cubicBezTo>
                    <a:lnTo>
                      <a:pt x="31704" y="429480"/>
                    </a:lnTo>
                    <a:cubicBezTo>
                      <a:pt x="23295" y="429480"/>
                      <a:pt x="15231" y="426140"/>
                      <a:pt x="9286" y="420194"/>
                    </a:cubicBezTo>
                    <a:cubicBezTo>
                      <a:pt x="3340" y="414249"/>
                      <a:pt x="0" y="406185"/>
                      <a:pt x="0" y="397777"/>
                    </a:cubicBezTo>
                    <a:lnTo>
                      <a:pt x="0" y="31704"/>
                    </a:lnTo>
                    <a:cubicBezTo>
                      <a:pt x="0" y="23295"/>
                      <a:pt x="3340" y="15231"/>
                      <a:pt x="9286" y="9286"/>
                    </a:cubicBezTo>
                    <a:cubicBezTo>
                      <a:pt x="15231" y="3340"/>
                      <a:pt x="23295" y="0"/>
                      <a:pt x="31704" y="0"/>
                    </a:cubicBezTo>
                    <a:close/>
                  </a:path>
                </a:pathLst>
              </a:custGeom>
              <a:solidFill>
                <a:srgbClr val="BAE8ED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66675"/>
                <a:ext cx="3280076" cy="4961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793272" y="339515"/>
              <a:ext cx="15506382" cy="14190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39"/>
                </a:lnSpc>
                <a:spcBef>
                  <a:spcPct val="0"/>
                </a:spcBef>
              </a:pPr>
              <a:r>
                <a:rPr lang="en-US" sz="3099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Mac</a:t>
              </a:r>
              <a:r>
                <a:rPr lang="en-US" sz="3099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ro signals degrade indoors, however 80% of mobile traffic is indoor (Ericsson)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6544865">
            <a:off x="1251251" y="5010023"/>
            <a:ext cx="2185717" cy="999966"/>
          </a:xfrm>
          <a:custGeom>
            <a:avLst/>
            <a:gdLst/>
            <a:ahLst/>
            <a:cxnLst/>
            <a:rect r="r" b="b" t="t" l="l"/>
            <a:pathLst>
              <a:path h="999966" w="2185717">
                <a:moveTo>
                  <a:pt x="0" y="0"/>
                </a:moveTo>
                <a:lnTo>
                  <a:pt x="2185718" y="0"/>
                </a:lnTo>
                <a:lnTo>
                  <a:pt x="2185718" y="999966"/>
                </a:lnTo>
                <a:lnTo>
                  <a:pt x="0" y="9999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3326284" y="5797052"/>
            <a:ext cx="12454038" cy="1087758"/>
            <a:chOff x="0" y="0"/>
            <a:chExt cx="16605384" cy="1450344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6605384" cy="1450344"/>
              <a:chOff x="0" y="0"/>
              <a:chExt cx="3280076" cy="286488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280076" cy="286488"/>
              </a:xfrm>
              <a:custGeom>
                <a:avLst/>
                <a:gdLst/>
                <a:ahLst/>
                <a:cxnLst/>
                <a:rect r="r" b="b" t="t" l="l"/>
                <a:pathLst>
                  <a:path h="286488" w="3280076">
                    <a:moveTo>
                      <a:pt x="31704" y="0"/>
                    </a:moveTo>
                    <a:lnTo>
                      <a:pt x="3248372" y="0"/>
                    </a:lnTo>
                    <a:cubicBezTo>
                      <a:pt x="3256781" y="0"/>
                      <a:pt x="3264845" y="3340"/>
                      <a:pt x="3270790" y="9286"/>
                    </a:cubicBezTo>
                    <a:cubicBezTo>
                      <a:pt x="3276736" y="15231"/>
                      <a:pt x="3280076" y="23295"/>
                      <a:pt x="3280076" y="31704"/>
                    </a:cubicBezTo>
                    <a:lnTo>
                      <a:pt x="3280076" y="254784"/>
                    </a:lnTo>
                    <a:cubicBezTo>
                      <a:pt x="3280076" y="263192"/>
                      <a:pt x="3276736" y="271256"/>
                      <a:pt x="3270790" y="277202"/>
                    </a:cubicBezTo>
                    <a:cubicBezTo>
                      <a:pt x="3264845" y="283147"/>
                      <a:pt x="3256781" y="286488"/>
                      <a:pt x="3248372" y="286488"/>
                    </a:cubicBezTo>
                    <a:lnTo>
                      <a:pt x="31704" y="286488"/>
                    </a:lnTo>
                    <a:cubicBezTo>
                      <a:pt x="23295" y="286488"/>
                      <a:pt x="15231" y="283147"/>
                      <a:pt x="9286" y="277202"/>
                    </a:cubicBezTo>
                    <a:cubicBezTo>
                      <a:pt x="3340" y="271256"/>
                      <a:pt x="0" y="263192"/>
                      <a:pt x="0" y="254784"/>
                    </a:cubicBezTo>
                    <a:lnTo>
                      <a:pt x="0" y="31704"/>
                    </a:lnTo>
                    <a:cubicBezTo>
                      <a:pt x="0" y="23295"/>
                      <a:pt x="3340" y="15231"/>
                      <a:pt x="9286" y="9286"/>
                    </a:cubicBezTo>
                    <a:cubicBezTo>
                      <a:pt x="15231" y="3340"/>
                      <a:pt x="23295" y="0"/>
                      <a:pt x="31704" y="0"/>
                    </a:cubicBezTo>
                    <a:close/>
                  </a:path>
                </a:pathLst>
              </a:custGeom>
              <a:solidFill>
                <a:srgbClr val="2B5895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66675"/>
                <a:ext cx="3280076" cy="3531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793272" y="339515"/>
              <a:ext cx="15506382" cy="6951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39"/>
                </a:lnSpc>
                <a:spcBef>
                  <a:spcPct val="0"/>
                </a:spcBef>
              </a:pPr>
              <a:r>
                <a:rPr lang="en-US" b="true" sz="3099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Sm</a:t>
              </a:r>
              <a:r>
                <a:rPr lang="en-US" b="true" sz="3099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all Cells boost local capacity &amp; optimize indoor coverage.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2083347" y="2369064"/>
            <a:ext cx="825406" cy="2247393"/>
          </a:xfrm>
          <a:custGeom>
            <a:avLst/>
            <a:gdLst/>
            <a:ahLst/>
            <a:cxnLst/>
            <a:rect r="r" b="b" t="t" l="l"/>
            <a:pathLst>
              <a:path h="2247393" w="825406">
                <a:moveTo>
                  <a:pt x="0" y="0"/>
                </a:moveTo>
                <a:lnTo>
                  <a:pt x="825406" y="0"/>
                </a:lnTo>
                <a:lnTo>
                  <a:pt x="825406" y="2247393"/>
                </a:lnTo>
                <a:lnTo>
                  <a:pt x="0" y="22473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8688513">
            <a:off x="6038242" y="7314916"/>
            <a:ext cx="1287276" cy="362046"/>
          </a:xfrm>
          <a:custGeom>
            <a:avLst/>
            <a:gdLst/>
            <a:ahLst/>
            <a:cxnLst/>
            <a:rect r="r" b="b" t="t" l="l"/>
            <a:pathLst>
              <a:path h="362046" w="1287276">
                <a:moveTo>
                  <a:pt x="0" y="0"/>
                </a:moveTo>
                <a:lnTo>
                  <a:pt x="1287276" y="0"/>
                </a:lnTo>
                <a:lnTo>
                  <a:pt x="1287276" y="362047"/>
                </a:lnTo>
                <a:lnTo>
                  <a:pt x="0" y="3620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267937" y="8107070"/>
            <a:ext cx="6116695" cy="1228602"/>
            <a:chOff x="0" y="0"/>
            <a:chExt cx="8155593" cy="1638137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8155593" cy="1638137"/>
              <a:chOff x="0" y="0"/>
              <a:chExt cx="2138201" cy="42948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138201" cy="429480"/>
              </a:xfrm>
              <a:custGeom>
                <a:avLst/>
                <a:gdLst/>
                <a:ahLst/>
                <a:cxnLst/>
                <a:rect r="r" b="b" t="t" l="l"/>
                <a:pathLst>
                  <a:path h="429480" w="2138201">
                    <a:moveTo>
                      <a:pt x="64551" y="0"/>
                    </a:moveTo>
                    <a:lnTo>
                      <a:pt x="2073650" y="0"/>
                    </a:lnTo>
                    <a:cubicBezTo>
                      <a:pt x="2090770" y="0"/>
                      <a:pt x="2107189" y="6801"/>
                      <a:pt x="2119294" y="18907"/>
                    </a:cubicBezTo>
                    <a:cubicBezTo>
                      <a:pt x="2131400" y="31012"/>
                      <a:pt x="2138201" y="47431"/>
                      <a:pt x="2138201" y="64551"/>
                    </a:cubicBezTo>
                    <a:lnTo>
                      <a:pt x="2138201" y="364929"/>
                    </a:lnTo>
                    <a:cubicBezTo>
                      <a:pt x="2138201" y="382049"/>
                      <a:pt x="2131400" y="398468"/>
                      <a:pt x="2119294" y="410574"/>
                    </a:cubicBezTo>
                    <a:cubicBezTo>
                      <a:pt x="2107189" y="422679"/>
                      <a:pt x="2090770" y="429480"/>
                      <a:pt x="2073650" y="429480"/>
                    </a:cubicBezTo>
                    <a:lnTo>
                      <a:pt x="64551" y="429480"/>
                    </a:lnTo>
                    <a:cubicBezTo>
                      <a:pt x="47431" y="429480"/>
                      <a:pt x="31012" y="422679"/>
                      <a:pt x="18907" y="410574"/>
                    </a:cubicBezTo>
                    <a:cubicBezTo>
                      <a:pt x="6801" y="398468"/>
                      <a:pt x="0" y="382049"/>
                      <a:pt x="0" y="364929"/>
                    </a:cubicBezTo>
                    <a:lnTo>
                      <a:pt x="0" y="64551"/>
                    </a:lnTo>
                    <a:cubicBezTo>
                      <a:pt x="0" y="47431"/>
                      <a:pt x="6801" y="31012"/>
                      <a:pt x="18907" y="18907"/>
                    </a:cubicBezTo>
                    <a:cubicBezTo>
                      <a:pt x="31012" y="6801"/>
                      <a:pt x="47431" y="0"/>
                      <a:pt x="64551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66675"/>
                <a:ext cx="2138201" cy="4961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597673" y="265586"/>
              <a:ext cx="7146785" cy="1059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69"/>
                </a:lnSpc>
                <a:spcBef>
                  <a:spcPct val="0"/>
                </a:spcBef>
              </a:pPr>
              <a:r>
                <a:rPr lang="en-US" sz="2335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Maj</a:t>
              </a:r>
              <a:r>
                <a:rPr lang="en-US" sz="2335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or vendors (Ericsson, Huawei, ZTE) </a:t>
              </a:r>
            </a:p>
            <a:p>
              <a:pPr algn="ctr">
                <a:lnSpc>
                  <a:spcPts val="3269"/>
                </a:lnSpc>
                <a:spcBef>
                  <a:spcPct val="0"/>
                </a:spcBef>
              </a:pPr>
              <a:r>
                <a:rPr lang="en-US" sz="2335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are heavily investing in Small Cells.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2252102">
            <a:off x="11415497" y="7410918"/>
            <a:ext cx="1287276" cy="362046"/>
          </a:xfrm>
          <a:custGeom>
            <a:avLst/>
            <a:gdLst/>
            <a:ahLst/>
            <a:cxnLst/>
            <a:rect r="r" b="b" t="t" l="l"/>
            <a:pathLst>
              <a:path h="362046" w="1287276">
                <a:moveTo>
                  <a:pt x="0" y="0"/>
                </a:moveTo>
                <a:lnTo>
                  <a:pt x="1287276" y="0"/>
                </a:lnTo>
                <a:lnTo>
                  <a:pt x="1287276" y="362047"/>
                </a:lnTo>
                <a:lnTo>
                  <a:pt x="0" y="3620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3070634" y="7462423"/>
            <a:ext cx="4821799" cy="2517896"/>
            <a:chOff x="0" y="0"/>
            <a:chExt cx="6429066" cy="3357195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6429066" cy="3357195"/>
              <a:chOff x="0" y="0"/>
              <a:chExt cx="1643957" cy="858458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643957" cy="858458"/>
              </a:xfrm>
              <a:custGeom>
                <a:avLst/>
                <a:gdLst/>
                <a:ahLst/>
                <a:cxnLst/>
                <a:rect r="r" b="b" t="t" l="l"/>
                <a:pathLst>
                  <a:path h="858458" w="1643957">
                    <a:moveTo>
                      <a:pt x="83958" y="0"/>
                    </a:moveTo>
                    <a:lnTo>
                      <a:pt x="1559999" y="0"/>
                    </a:lnTo>
                    <a:cubicBezTo>
                      <a:pt x="1606368" y="0"/>
                      <a:pt x="1643957" y="37589"/>
                      <a:pt x="1643957" y="83958"/>
                    </a:cubicBezTo>
                    <a:lnTo>
                      <a:pt x="1643957" y="774500"/>
                    </a:lnTo>
                    <a:cubicBezTo>
                      <a:pt x="1643957" y="820869"/>
                      <a:pt x="1606368" y="858458"/>
                      <a:pt x="1559999" y="858458"/>
                    </a:cubicBezTo>
                    <a:lnTo>
                      <a:pt x="83958" y="858458"/>
                    </a:lnTo>
                    <a:cubicBezTo>
                      <a:pt x="37589" y="858458"/>
                      <a:pt x="0" y="820869"/>
                      <a:pt x="0" y="774500"/>
                    </a:cubicBezTo>
                    <a:lnTo>
                      <a:pt x="0" y="83958"/>
                    </a:lnTo>
                    <a:cubicBezTo>
                      <a:pt x="0" y="37589"/>
                      <a:pt x="37589" y="0"/>
                      <a:pt x="83958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66675"/>
                <a:ext cx="1643957" cy="9251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471147" y="263985"/>
              <a:ext cx="5633822" cy="27720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2"/>
                </a:lnSpc>
                <a:spcBef>
                  <a:spcPct val="0"/>
                </a:spcBef>
              </a:pPr>
              <a:r>
                <a:rPr lang="en-US" sz="2394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Adva</a:t>
              </a:r>
              <a:r>
                <a:rPr lang="en-US" sz="2394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ntages: compact – low power – easy deployment – high efficiency in dense areas.</a:t>
              </a:r>
            </a:p>
            <a:p>
              <a:pPr algn="ctr">
                <a:lnSpc>
                  <a:spcPts val="3352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0" y="65640"/>
            <a:ext cx="1828800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 OVERVIEW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52418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173884" y="1825185"/>
            <a:ext cx="12454038" cy="1630683"/>
            <a:chOff x="0" y="0"/>
            <a:chExt cx="3280076" cy="4294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80076" cy="429480"/>
            </a:xfrm>
            <a:custGeom>
              <a:avLst/>
              <a:gdLst/>
              <a:ahLst/>
              <a:cxnLst/>
              <a:rect r="r" b="b" t="t" l="l"/>
              <a:pathLst>
                <a:path h="429480" w="3280076">
                  <a:moveTo>
                    <a:pt x="31704" y="0"/>
                  </a:moveTo>
                  <a:lnTo>
                    <a:pt x="3248372" y="0"/>
                  </a:lnTo>
                  <a:cubicBezTo>
                    <a:pt x="3256781" y="0"/>
                    <a:pt x="3264845" y="3340"/>
                    <a:pt x="3270790" y="9286"/>
                  </a:cubicBezTo>
                  <a:cubicBezTo>
                    <a:pt x="3276736" y="15231"/>
                    <a:pt x="3280076" y="23295"/>
                    <a:pt x="3280076" y="31704"/>
                  </a:cubicBezTo>
                  <a:lnTo>
                    <a:pt x="3280076" y="397777"/>
                  </a:lnTo>
                  <a:cubicBezTo>
                    <a:pt x="3280076" y="406185"/>
                    <a:pt x="3276736" y="414249"/>
                    <a:pt x="3270790" y="420194"/>
                  </a:cubicBezTo>
                  <a:cubicBezTo>
                    <a:pt x="3264845" y="426140"/>
                    <a:pt x="3256781" y="429480"/>
                    <a:pt x="3248372" y="429480"/>
                  </a:cubicBezTo>
                  <a:lnTo>
                    <a:pt x="31704" y="429480"/>
                  </a:lnTo>
                  <a:cubicBezTo>
                    <a:pt x="23295" y="429480"/>
                    <a:pt x="15231" y="426140"/>
                    <a:pt x="9286" y="420194"/>
                  </a:cubicBezTo>
                  <a:cubicBezTo>
                    <a:pt x="3340" y="414249"/>
                    <a:pt x="0" y="406185"/>
                    <a:pt x="0" y="397777"/>
                  </a:cubicBezTo>
                  <a:lnTo>
                    <a:pt x="0" y="31704"/>
                  </a:lnTo>
                  <a:cubicBezTo>
                    <a:pt x="0" y="23295"/>
                    <a:pt x="3340" y="15231"/>
                    <a:pt x="9286" y="9286"/>
                  </a:cubicBezTo>
                  <a:cubicBezTo>
                    <a:pt x="15231" y="3340"/>
                    <a:pt x="23295" y="0"/>
                    <a:pt x="31704" y="0"/>
                  </a:cubicBezTo>
                  <a:close/>
                </a:path>
              </a:pathLst>
            </a:custGeom>
            <a:solidFill>
              <a:srgbClr val="BAE8E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3280076" cy="496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173884" y="3537719"/>
            <a:ext cx="12454038" cy="1630683"/>
            <a:chOff x="0" y="0"/>
            <a:chExt cx="16605384" cy="2174244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6605384" cy="2174244"/>
              <a:chOff x="0" y="0"/>
              <a:chExt cx="3280076" cy="42948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280076" cy="429480"/>
              </a:xfrm>
              <a:custGeom>
                <a:avLst/>
                <a:gdLst/>
                <a:ahLst/>
                <a:cxnLst/>
                <a:rect r="r" b="b" t="t" l="l"/>
                <a:pathLst>
                  <a:path h="429480" w="3280076">
                    <a:moveTo>
                      <a:pt x="31704" y="0"/>
                    </a:moveTo>
                    <a:lnTo>
                      <a:pt x="3248372" y="0"/>
                    </a:lnTo>
                    <a:cubicBezTo>
                      <a:pt x="3256781" y="0"/>
                      <a:pt x="3264845" y="3340"/>
                      <a:pt x="3270790" y="9286"/>
                    </a:cubicBezTo>
                    <a:cubicBezTo>
                      <a:pt x="3276736" y="15231"/>
                      <a:pt x="3280076" y="23295"/>
                      <a:pt x="3280076" y="31704"/>
                    </a:cubicBezTo>
                    <a:lnTo>
                      <a:pt x="3280076" y="397777"/>
                    </a:lnTo>
                    <a:cubicBezTo>
                      <a:pt x="3280076" y="406185"/>
                      <a:pt x="3276736" y="414249"/>
                      <a:pt x="3270790" y="420194"/>
                    </a:cubicBezTo>
                    <a:cubicBezTo>
                      <a:pt x="3264845" y="426140"/>
                      <a:pt x="3256781" y="429480"/>
                      <a:pt x="3248372" y="429480"/>
                    </a:cubicBezTo>
                    <a:lnTo>
                      <a:pt x="31704" y="429480"/>
                    </a:lnTo>
                    <a:cubicBezTo>
                      <a:pt x="23295" y="429480"/>
                      <a:pt x="15231" y="426140"/>
                      <a:pt x="9286" y="420194"/>
                    </a:cubicBezTo>
                    <a:cubicBezTo>
                      <a:pt x="3340" y="414249"/>
                      <a:pt x="0" y="406185"/>
                      <a:pt x="0" y="397777"/>
                    </a:cubicBezTo>
                    <a:lnTo>
                      <a:pt x="0" y="31704"/>
                    </a:lnTo>
                    <a:cubicBezTo>
                      <a:pt x="0" y="23295"/>
                      <a:pt x="3340" y="15231"/>
                      <a:pt x="9286" y="9286"/>
                    </a:cubicBezTo>
                    <a:cubicBezTo>
                      <a:pt x="15231" y="3340"/>
                      <a:pt x="23295" y="0"/>
                      <a:pt x="31704" y="0"/>
                    </a:cubicBezTo>
                    <a:close/>
                  </a:path>
                </a:pathLst>
              </a:custGeom>
              <a:solidFill>
                <a:srgbClr val="BAE8ED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66675"/>
                <a:ext cx="3280076" cy="4961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360992" y="339515"/>
              <a:ext cx="10663467" cy="14190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39"/>
                </a:lnSpc>
                <a:spcBef>
                  <a:spcPct val="0"/>
                </a:spcBef>
              </a:pPr>
              <a:r>
                <a:rPr lang="en-US" sz="3099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Opt</a:t>
              </a:r>
              <a:r>
                <a:rPr lang="en-US" sz="3099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imized for local infrastructure, lowering cost &amp; improving technological autonomy.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326284" y="8275954"/>
            <a:ext cx="12454038" cy="1630683"/>
            <a:chOff x="0" y="0"/>
            <a:chExt cx="16605384" cy="2174244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6605384" cy="2174244"/>
              <a:chOff x="0" y="0"/>
              <a:chExt cx="3280076" cy="42948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280076" cy="429480"/>
              </a:xfrm>
              <a:custGeom>
                <a:avLst/>
                <a:gdLst/>
                <a:ahLst/>
                <a:cxnLst/>
                <a:rect r="r" b="b" t="t" l="l"/>
                <a:pathLst>
                  <a:path h="429480" w="3280076">
                    <a:moveTo>
                      <a:pt x="31704" y="0"/>
                    </a:moveTo>
                    <a:lnTo>
                      <a:pt x="3248372" y="0"/>
                    </a:lnTo>
                    <a:cubicBezTo>
                      <a:pt x="3256781" y="0"/>
                      <a:pt x="3264845" y="3340"/>
                      <a:pt x="3270790" y="9286"/>
                    </a:cubicBezTo>
                    <a:cubicBezTo>
                      <a:pt x="3276736" y="15231"/>
                      <a:pt x="3280076" y="23295"/>
                      <a:pt x="3280076" y="31704"/>
                    </a:cubicBezTo>
                    <a:lnTo>
                      <a:pt x="3280076" y="397777"/>
                    </a:lnTo>
                    <a:cubicBezTo>
                      <a:pt x="3280076" y="406185"/>
                      <a:pt x="3276736" y="414249"/>
                      <a:pt x="3270790" y="420194"/>
                    </a:cubicBezTo>
                    <a:cubicBezTo>
                      <a:pt x="3264845" y="426140"/>
                      <a:pt x="3256781" y="429480"/>
                      <a:pt x="3248372" y="429480"/>
                    </a:cubicBezTo>
                    <a:lnTo>
                      <a:pt x="31704" y="429480"/>
                    </a:lnTo>
                    <a:cubicBezTo>
                      <a:pt x="23295" y="429480"/>
                      <a:pt x="15231" y="426140"/>
                      <a:pt x="9286" y="420194"/>
                    </a:cubicBezTo>
                    <a:cubicBezTo>
                      <a:pt x="3340" y="414249"/>
                      <a:pt x="0" y="406185"/>
                      <a:pt x="0" y="397777"/>
                    </a:cubicBezTo>
                    <a:lnTo>
                      <a:pt x="0" y="31704"/>
                    </a:lnTo>
                    <a:cubicBezTo>
                      <a:pt x="0" y="23295"/>
                      <a:pt x="3340" y="15231"/>
                      <a:pt x="9286" y="9286"/>
                    </a:cubicBezTo>
                    <a:cubicBezTo>
                      <a:pt x="15231" y="3340"/>
                      <a:pt x="23295" y="0"/>
                      <a:pt x="31704" y="0"/>
                    </a:cubicBezTo>
                    <a:close/>
                  </a:path>
                </a:pathLst>
              </a:custGeom>
              <a:solidFill>
                <a:srgbClr val="2B5895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66675"/>
                <a:ext cx="3280076" cy="4961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96636" y="339515"/>
              <a:ext cx="15812112" cy="14190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39"/>
                </a:lnSpc>
                <a:spcBef>
                  <a:spcPct val="0"/>
                </a:spcBef>
              </a:pPr>
              <a:r>
                <a:rPr lang="en-US" b="true" sz="3099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Confir</a:t>
              </a:r>
              <a:r>
                <a:rPr lang="en-US" b="true" sz="3099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ms</a:t>
              </a:r>
              <a:r>
                <a:rPr lang="en-US" b="true" sz="3099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the effectiveness of the Macro + Small Cell architecture in crowded areas.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083347" y="2105667"/>
            <a:ext cx="825406" cy="2247393"/>
          </a:xfrm>
          <a:custGeom>
            <a:avLst/>
            <a:gdLst/>
            <a:ahLst/>
            <a:cxnLst/>
            <a:rect r="r" b="b" t="t" l="l"/>
            <a:pathLst>
              <a:path h="2247393" w="825406">
                <a:moveTo>
                  <a:pt x="0" y="0"/>
                </a:moveTo>
                <a:lnTo>
                  <a:pt x="825406" y="0"/>
                </a:lnTo>
                <a:lnTo>
                  <a:pt x="825406" y="2247393"/>
                </a:lnTo>
                <a:lnTo>
                  <a:pt x="0" y="22473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57027" y="8425059"/>
            <a:ext cx="2119240" cy="1332472"/>
          </a:xfrm>
          <a:custGeom>
            <a:avLst/>
            <a:gdLst/>
            <a:ahLst/>
            <a:cxnLst/>
            <a:rect r="r" b="b" t="t" l="l"/>
            <a:pathLst>
              <a:path h="1332472" w="2119240">
                <a:moveTo>
                  <a:pt x="0" y="0"/>
                </a:moveTo>
                <a:lnTo>
                  <a:pt x="2119239" y="0"/>
                </a:lnTo>
                <a:lnTo>
                  <a:pt x="2119239" y="1332472"/>
                </a:lnTo>
                <a:lnTo>
                  <a:pt x="0" y="13324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6342556" y="5254127"/>
            <a:ext cx="6116695" cy="1228602"/>
            <a:chOff x="0" y="0"/>
            <a:chExt cx="8155593" cy="1638137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8155593" cy="1638137"/>
              <a:chOff x="0" y="0"/>
              <a:chExt cx="2138201" cy="42948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138201" cy="429480"/>
              </a:xfrm>
              <a:custGeom>
                <a:avLst/>
                <a:gdLst/>
                <a:ahLst/>
                <a:cxnLst/>
                <a:rect r="r" b="b" t="t" l="l"/>
                <a:pathLst>
                  <a:path h="429480" w="2138201">
                    <a:moveTo>
                      <a:pt x="64551" y="0"/>
                    </a:moveTo>
                    <a:lnTo>
                      <a:pt x="2073650" y="0"/>
                    </a:lnTo>
                    <a:cubicBezTo>
                      <a:pt x="2090770" y="0"/>
                      <a:pt x="2107189" y="6801"/>
                      <a:pt x="2119294" y="18907"/>
                    </a:cubicBezTo>
                    <a:cubicBezTo>
                      <a:pt x="2131400" y="31012"/>
                      <a:pt x="2138201" y="47431"/>
                      <a:pt x="2138201" y="64551"/>
                    </a:cubicBezTo>
                    <a:lnTo>
                      <a:pt x="2138201" y="364929"/>
                    </a:lnTo>
                    <a:cubicBezTo>
                      <a:pt x="2138201" y="382049"/>
                      <a:pt x="2131400" y="398468"/>
                      <a:pt x="2119294" y="410574"/>
                    </a:cubicBezTo>
                    <a:cubicBezTo>
                      <a:pt x="2107189" y="422679"/>
                      <a:pt x="2090770" y="429480"/>
                      <a:pt x="2073650" y="429480"/>
                    </a:cubicBezTo>
                    <a:lnTo>
                      <a:pt x="64551" y="429480"/>
                    </a:lnTo>
                    <a:cubicBezTo>
                      <a:pt x="47431" y="429480"/>
                      <a:pt x="31012" y="422679"/>
                      <a:pt x="18907" y="410574"/>
                    </a:cubicBezTo>
                    <a:cubicBezTo>
                      <a:pt x="6801" y="398468"/>
                      <a:pt x="0" y="382049"/>
                      <a:pt x="0" y="364929"/>
                    </a:cubicBezTo>
                    <a:lnTo>
                      <a:pt x="0" y="64551"/>
                    </a:lnTo>
                    <a:cubicBezTo>
                      <a:pt x="0" y="47431"/>
                      <a:pt x="6801" y="31012"/>
                      <a:pt x="18907" y="18907"/>
                    </a:cubicBezTo>
                    <a:cubicBezTo>
                      <a:pt x="31012" y="6801"/>
                      <a:pt x="47431" y="0"/>
                      <a:pt x="64551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66675"/>
                <a:ext cx="2138201" cy="4961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597673" y="265586"/>
              <a:ext cx="7146785" cy="1059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69"/>
                </a:lnSpc>
                <a:spcBef>
                  <a:spcPct val="0"/>
                </a:spcBef>
              </a:pPr>
              <a:r>
                <a:rPr lang="en-US" sz="2335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ext</a:t>
              </a:r>
              <a:r>
                <a:rPr lang="en-US" sz="2335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remely high user density, surge in livestream demand.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26308" y="3049766"/>
            <a:ext cx="1690338" cy="359197"/>
          </a:xfrm>
          <a:custGeom>
            <a:avLst/>
            <a:gdLst/>
            <a:ahLst/>
            <a:cxnLst/>
            <a:rect r="r" b="b" t="t" l="l"/>
            <a:pathLst>
              <a:path h="359197" w="1690338">
                <a:moveTo>
                  <a:pt x="0" y="0"/>
                </a:moveTo>
                <a:lnTo>
                  <a:pt x="1690339" y="0"/>
                </a:lnTo>
                <a:lnTo>
                  <a:pt x="1690339" y="359196"/>
                </a:lnTo>
                <a:lnTo>
                  <a:pt x="0" y="359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6575487" y="6568454"/>
            <a:ext cx="5737186" cy="1536050"/>
            <a:chOff x="0" y="0"/>
            <a:chExt cx="7649581" cy="2048066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7649581" cy="2048066"/>
              <a:chOff x="0" y="0"/>
              <a:chExt cx="2138201" cy="572473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138201" cy="572473"/>
              </a:xfrm>
              <a:custGeom>
                <a:avLst/>
                <a:gdLst/>
                <a:ahLst/>
                <a:cxnLst/>
                <a:rect r="r" b="b" t="t" l="l"/>
                <a:pathLst>
                  <a:path h="572473" w="2138201">
                    <a:moveTo>
                      <a:pt x="64551" y="0"/>
                    </a:moveTo>
                    <a:lnTo>
                      <a:pt x="2073650" y="0"/>
                    </a:lnTo>
                    <a:cubicBezTo>
                      <a:pt x="2090770" y="0"/>
                      <a:pt x="2107189" y="6801"/>
                      <a:pt x="2119294" y="18907"/>
                    </a:cubicBezTo>
                    <a:cubicBezTo>
                      <a:pt x="2131400" y="31012"/>
                      <a:pt x="2138201" y="47431"/>
                      <a:pt x="2138201" y="64551"/>
                    </a:cubicBezTo>
                    <a:lnTo>
                      <a:pt x="2138201" y="507922"/>
                    </a:lnTo>
                    <a:cubicBezTo>
                      <a:pt x="2138201" y="525042"/>
                      <a:pt x="2131400" y="541461"/>
                      <a:pt x="2119294" y="553566"/>
                    </a:cubicBezTo>
                    <a:cubicBezTo>
                      <a:pt x="2107189" y="565672"/>
                      <a:pt x="2090770" y="572473"/>
                      <a:pt x="2073650" y="572473"/>
                    </a:cubicBezTo>
                    <a:lnTo>
                      <a:pt x="64551" y="572473"/>
                    </a:lnTo>
                    <a:cubicBezTo>
                      <a:pt x="47431" y="572473"/>
                      <a:pt x="31012" y="565672"/>
                      <a:pt x="18907" y="553566"/>
                    </a:cubicBezTo>
                    <a:cubicBezTo>
                      <a:pt x="6801" y="541461"/>
                      <a:pt x="0" y="525042"/>
                      <a:pt x="0" y="507922"/>
                    </a:cubicBezTo>
                    <a:lnTo>
                      <a:pt x="0" y="64551"/>
                    </a:lnTo>
                    <a:cubicBezTo>
                      <a:pt x="0" y="47431"/>
                      <a:pt x="6801" y="31012"/>
                      <a:pt x="18907" y="18907"/>
                    </a:cubicBezTo>
                    <a:cubicBezTo>
                      <a:pt x="31012" y="6801"/>
                      <a:pt x="47431" y="0"/>
                      <a:pt x="64551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66675"/>
                <a:ext cx="2138201" cy="6391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560591" y="236628"/>
              <a:ext cx="6703365" cy="1517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66"/>
                </a:lnSpc>
                <a:spcBef>
                  <a:spcPct val="0"/>
                </a:spcBef>
              </a:pPr>
              <a:r>
                <a:rPr lang="en-US" sz="219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Small Cell d</a:t>
              </a:r>
              <a:r>
                <a:rPr lang="en-US" sz="219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eployment → higher speeds, reduced Macro load, stable connectivity.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5718495" y="2060772"/>
            <a:ext cx="7669617" cy="108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</a:t>
            </a:r>
            <a:r>
              <a:rPr lang="en-US" sz="30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iettel self-develops and manufactures “made-in-Vietnam” Small Cells.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0" y="75165"/>
            <a:ext cx="18288000" cy="1292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40"/>
              </a:lnSpc>
              <a:spcBef>
                <a:spcPct val="0"/>
              </a:spcBef>
            </a:pPr>
            <a:r>
              <a:rPr lang="en-US" b="true" sz="76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VIETNAM</a:t>
            </a:r>
            <a:r>
              <a:rPr lang="en-US" b="true" sz="76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 CONTEXT &amp; REAL RESULTS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485439" y="6322575"/>
            <a:ext cx="2372678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0000"/>
                </a:solidFill>
                <a:latin typeface="K2D"/>
                <a:ea typeface="K2D"/>
                <a:cs typeface="K2D"/>
                <a:sym typeface="K2D"/>
              </a:rPr>
              <a:t>A80 event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5305792" y="5558927"/>
            <a:ext cx="825406" cy="2247393"/>
          </a:xfrm>
          <a:custGeom>
            <a:avLst/>
            <a:gdLst/>
            <a:ahLst/>
            <a:cxnLst/>
            <a:rect r="r" b="b" t="t" l="l"/>
            <a:pathLst>
              <a:path h="2247393" w="825406">
                <a:moveTo>
                  <a:pt x="0" y="0"/>
                </a:moveTo>
                <a:lnTo>
                  <a:pt x="825406" y="0"/>
                </a:lnTo>
                <a:lnTo>
                  <a:pt x="825406" y="2247393"/>
                </a:lnTo>
                <a:lnTo>
                  <a:pt x="0" y="22473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401619" y="-1836715"/>
            <a:ext cx="13960430" cy="13960430"/>
          </a:xfrm>
          <a:custGeom>
            <a:avLst/>
            <a:gdLst/>
            <a:ahLst/>
            <a:cxnLst/>
            <a:rect r="r" b="b" t="t" l="l"/>
            <a:pathLst>
              <a:path h="13960430" w="13960430">
                <a:moveTo>
                  <a:pt x="0" y="0"/>
                </a:moveTo>
                <a:lnTo>
                  <a:pt x="13960431" y="0"/>
                </a:lnTo>
                <a:lnTo>
                  <a:pt x="13960431" y="13960430"/>
                </a:lnTo>
                <a:lnTo>
                  <a:pt x="0" y="13960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95447" y="611272"/>
            <a:ext cx="8563853" cy="4025011"/>
          </a:xfrm>
          <a:custGeom>
            <a:avLst/>
            <a:gdLst/>
            <a:ahLst/>
            <a:cxnLst/>
            <a:rect r="r" b="b" t="t" l="l"/>
            <a:pathLst>
              <a:path h="4025011" w="8563853">
                <a:moveTo>
                  <a:pt x="0" y="0"/>
                </a:moveTo>
                <a:lnTo>
                  <a:pt x="8563853" y="0"/>
                </a:lnTo>
                <a:lnTo>
                  <a:pt x="8563853" y="4025011"/>
                </a:lnTo>
                <a:lnTo>
                  <a:pt x="0" y="40250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695447" y="5511028"/>
            <a:ext cx="8563853" cy="4410384"/>
          </a:xfrm>
          <a:custGeom>
            <a:avLst/>
            <a:gdLst/>
            <a:ahLst/>
            <a:cxnLst/>
            <a:rect r="r" b="b" t="t" l="l"/>
            <a:pathLst>
              <a:path h="4410384" w="8563853">
                <a:moveTo>
                  <a:pt x="0" y="0"/>
                </a:moveTo>
                <a:lnTo>
                  <a:pt x="8563853" y="0"/>
                </a:lnTo>
                <a:lnTo>
                  <a:pt x="8563853" y="4410384"/>
                </a:lnTo>
                <a:lnTo>
                  <a:pt x="0" y="44103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292525" y="4483883"/>
            <a:ext cx="7900193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b="true" sz="8000">
                <a:solidFill>
                  <a:srgbClr val="FFDE59"/>
                </a:solidFill>
                <a:latin typeface="K2D Bold"/>
                <a:ea typeface="K2D Bold"/>
                <a:cs typeface="K2D Bold"/>
                <a:sym typeface="K2D Bold"/>
              </a:rPr>
              <a:t>SYSTEM MODEL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664733"/>
            <a:ext cx="6070698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000" b="true">
                <a:solidFill>
                  <a:srgbClr val="2A2E3A"/>
                </a:solidFill>
                <a:latin typeface="K2D Bold"/>
                <a:ea typeface="K2D Bold"/>
                <a:cs typeface="K2D Bold"/>
                <a:sym typeface="K2D Bold"/>
              </a:rPr>
              <a:t>PART 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804353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6"/>
                </a:lnTo>
                <a:lnTo>
                  <a:pt x="0" y="3608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1132" y="2146425"/>
            <a:ext cx="16465735" cy="3869448"/>
          </a:xfrm>
          <a:custGeom>
            <a:avLst/>
            <a:gdLst/>
            <a:ahLst/>
            <a:cxnLst/>
            <a:rect r="r" b="b" t="t" l="l"/>
            <a:pathLst>
              <a:path h="3869448" w="16465735">
                <a:moveTo>
                  <a:pt x="0" y="0"/>
                </a:moveTo>
                <a:lnTo>
                  <a:pt x="16465736" y="0"/>
                </a:lnTo>
                <a:lnTo>
                  <a:pt x="16465736" y="3869448"/>
                </a:lnTo>
                <a:lnTo>
                  <a:pt x="0" y="38694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5644473" y="244721"/>
            <a:ext cx="6999053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b="true" sz="6999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SYSTEM MODEL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1132" y="6358773"/>
            <a:ext cx="6328659" cy="3424285"/>
            <a:chOff x="0" y="0"/>
            <a:chExt cx="8438213" cy="456571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8438213" cy="4565713"/>
              <a:chOff x="0" y="0"/>
              <a:chExt cx="2846372" cy="154010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846372" cy="1540103"/>
              </a:xfrm>
              <a:custGeom>
                <a:avLst/>
                <a:gdLst/>
                <a:ahLst/>
                <a:cxnLst/>
                <a:rect r="r" b="b" t="t" l="l"/>
                <a:pathLst>
                  <a:path h="1540103" w="2846372">
                    <a:moveTo>
                      <a:pt x="62389" y="0"/>
                    </a:moveTo>
                    <a:lnTo>
                      <a:pt x="2783983" y="0"/>
                    </a:lnTo>
                    <a:cubicBezTo>
                      <a:pt x="2800530" y="0"/>
                      <a:pt x="2816399" y="6573"/>
                      <a:pt x="2828099" y="18273"/>
                    </a:cubicBezTo>
                    <a:cubicBezTo>
                      <a:pt x="2839799" y="29973"/>
                      <a:pt x="2846372" y="45842"/>
                      <a:pt x="2846372" y="62389"/>
                    </a:cubicBezTo>
                    <a:lnTo>
                      <a:pt x="2846372" y="1477714"/>
                    </a:lnTo>
                    <a:cubicBezTo>
                      <a:pt x="2846372" y="1494261"/>
                      <a:pt x="2839799" y="1510130"/>
                      <a:pt x="2828099" y="1521830"/>
                    </a:cubicBezTo>
                    <a:cubicBezTo>
                      <a:pt x="2816399" y="1533530"/>
                      <a:pt x="2800530" y="1540103"/>
                      <a:pt x="2783983" y="1540103"/>
                    </a:cubicBezTo>
                    <a:lnTo>
                      <a:pt x="62389" y="1540103"/>
                    </a:lnTo>
                    <a:cubicBezTo>
                      <a:pt x="45842" y="1540103"/>
                      <a:pt x="29973" y="1533530"/>
                      <a:pt x="18273" y="1521830"/>
                    </a:cubicBezTo>
                    <a:cubicBezTo>
                      <a:pt x="6573" y="1510130"/>
                      <a:pt x="0" y="1494261"/>
                      <a:pt x="0" y="1477714"/>
                    </a:cubicBezTo>
                    <a:lnTo>
                      <a:pt x="0" y="62389"/>
                    </a:lnTo>
                    <a:cubicBezTo>
                      <a:pt x="0" y="45842"/>
                      <a:pt x="6573" y="29973"/>
                      <a:pt x="18273" y="18273"/>
                    </a:cubicBezTo>
                    <a:cubicBezTo>
                      <a:pt x="29973" y="6573"/>
                      <a:pt x="45842" y="0"/>
                      <a:pt x="62389" y="0"/>
                    </a:cubicBezTo>
                    <a:close/>
                  </a:path>
                </a:pathLst>
              </a:custGeom>
              <a:solidFill>
                <a:srgbClr val="2B5895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66675"/>
                <a:ext cx="2846372" cy="1606778"/>
              </a:xfrm>
              <a:prstGeom prst="rect">
                <a:avLst/>
              </a:prstGeom>
            </p:spPr>
            <p:txBody>
              <a:bodyPr anchor="ctr" rtlCol="false" tIns="29748" lIns="29748" bIns="29748" rIns="29748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288645"/>
              <a:ext cx="7963490" cy="4209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429853" indent="-214926" lvl="1">
                <a:lnSpc>
                  <a:spcPts val="278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990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DWDM: Combine</a:t>
              </a:r>
              <a:r>
                <a:rPr lang="en-US" b="true" sz="1990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</a:t>
              </a:r>
              <a:r>
                <a:rPr lang="en-US" b="true" sz="1990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40–128 wavelengths, each 100–400 Gbps → high-capacity backbone</a:t>
              </a:r>
            </a:p>
            <a:p>
              <a:pPr algn="just">
                <a:lnSpc>
                  <a:spcPts val="2787"/>
                </a:lnSpc>
                <a:spcBef>
                  <a:spcPct val="0"/>
                </a:spcBef>
              </a:pPr>
            </a:p>
            <a:p>
              <a:pPr algn="just" marL="429853" indent="-214926" lvl="1">
                <a:lnSpc>
                  <a:spcPts val="278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990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OTN: Encapsulates ODU0–ODU4, adds FEC &amp; OAM for long-haul reliability and monitoring</a:t>
              </a:r>
            </a:p>
            <a:p>
              <a:pPr algn="just">
                <a:lnSpc>
                  <a:spcPts val="2787"/>
                </a:lnSpc>
                <a:spcBef>
                  <a:spcPct val="0"/>
                </a:spcBef>
              </a:pPr>
            </a:p>
            <a:p>
              <a:pPr algn="just" marL="429853" indent="-214926" lvl="1">
                <a:lnSpc>
                  <a:spcPts val="278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990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IP/MPLS: Uses MPLS labels for fast routing and QoS for latency-sensitive services</a:t>
              </a:r>
            </a:p>
            <a:p>
              <a:pPr algn="just">
                <a:lnSpc>
                  <a:spcPts val="2787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048208" y="6358773"/>
            <a:ext cx="6328659" cy="3424285"/>
            <a:chOff x="0" y="0"/>
            <a:chExt cx="8438213" cy="4565713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8438213" cy="4565713"/>
              <a:chOff x="0" y="0"/>
              <a:chExt cx="3139319" cy="169860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139319" cy="1698609"/>
              </a:xfrm>
              <a:custGeom>
                <a:avLst/>
                <a:gdLst/>
                <a:ahLst/>
                <a:cxnLst/>
                <a:rect r="r" b="b" t="t" l="l"/>
                <a:pathLst>
                  <a:path h="1698609" w="3139319">
                    <a:moveTo>
                      <a:pt x="56567" y="0"/>
                    </a:moveTo>
                    <a:lnTo>
                      <a:pt x="3082752" y="0"/>
                    </a:lnTo>
                    <a:cubicBezTo>
                      <a:pt x="3097754" y="0"/>
                      <a:pt x="3112142" y="5960"/>
                      <a:pt x="3122750" y="16568"/>
                    </a:cubicBezTo>
                    <a:cubicBezTo>
                      <a:pt x="3133359" y="27176"/>
                      <a:pt x="3139319" y="41565"/>
                      <a:pt x="3139319" y="56567"/>
                    </a:cubicBezTo>
                    <a:lnTo>
                      <a:pt x="3139319" y="1642042"/>
                    </a:lnTo>
                    <a:cubicBezTo>
                      <a:pt x="3139319" y="1673283"/>
                      <a:pt x="3113993" y="1698609"/>
                      <a:pt x="3082752" y="1698609"/>
                    </a:cubicBezTo>
                    <a:lnTo>
                      <a:pt x="56567" y="1698609"/>
                    </a:lnTo>
                    <a:cubicBezTo>
                      <a:pt x="25326" y="1698609"/>
                      <a:pt x="0" y="1673283"/>
                      <a:pt x="0" y="1642042"/>
                    </a:cubicBezTo>
                    <a:lnTo>
                      <a:pt x="0" y="56567"/>
                    </a:lnTo>
                    <a:cubicBezTo>
                      <a:pt x="0" y="25326"/>
                      <a:pt x="25326" y="0"/>
                      <a:pt x="56567" y="0"/>
                    </a:cubicBezTo>
                    <a:close/>
                  </a:path>
                </a:pathLst>
              </a:custGeom>
              <a:solidFill>
                <a:srgbClr val="2B5895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66675"/>
                <a:ext cx="3139319" cy="1765284"/>
              </a:xfrm>
              <a:prstGeom prst="rect">
                <a:avLst/>
              </a:prstGeom>
            </p:spPr>
            <p:txBody>
              <a:bodyPr anchor="ctr" rtlCol="false" tIns="29748" lIns="29748" bIns="29748" rIns="29748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0" y="115212"/>
              <a:ext cx="7963490" cy="4237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27"/>
                </a:lnSpc>
                <a:spcBef>
                  <a:spcPct val="0"/>
                </a:spcBef>
              </a:pPr>
            </a:p>
            <a:p>
              <a:pPr algn="just" marL="389741" indent="-194870" lvl="1">
                <a:lnSpc>
                  <a:spcPts val="252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805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Access Switch: VLAN, QoS, and rate-limiting to control traffic before backhaul.</a:t>
              </a:r>
            </a:p>
            <a:p>
              <a:pPr algn="just">
                <a:lnSpc>
                  <a:spcPts val="2527"/>
                </a:lnSpc>
                <a:spcBef>
                  <a:spcPct val="0"/>
                </a:spcBef>
              </a:pPr>
            </a:p>
            <a:p>
              <a:pPr algn="just" marL="389741" indent="-194870" lvl="1">
                <a:lnSpc>
                  <a:spcPts val="252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805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Backhaul → Small Cell: 1G/10G/25G Ethernet, microwave, or mmWave links.</a:t>
              </a:r>
            </a:p>
            <a:p>
              <a:pPr algn="just">
                <a:lnSpc>
                  <a:spcPts val="2527"/>
                </a:lnSpc>
                <a:spcBef>
                  <a:spcPct val="0"/>
                </a:spcBef>
              </a:pPr>
            </a:p>
            <a:p>
              <a:pPr algn="just" marL="389741" indent="-194870" lvl="1">
                <a:lnSpc>
                  <a:spcPts val="252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805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Small Cell: Converts and transmits the signal over 5G NR to the UE.</a:t>
              </a:r>
            </a:p>
            <a:p>
              <a:pPr algn="just">
                <a:lnSpc>
                  <a:spcPts val="2527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401619" y="-1836715"/>
            <a:ext cx="13960430" cy="13960430"/>
          </a:xfrm>
          <a:custGeom>
            <a:avLst/>
            <a:gdLst/>
            <a:ahLst/>
            <a:cxnLst/>
            <a:rect r="r" b="b" t="t" l="l"/>
            <a:pathLst>
              <a:path h="13960430" w="13960430">
                <a:moveTo>
                  <a:pt x="0" y="0"/>
                </a:moveTo>
                <a:lnTo>
                  <a:pt x="13960431" y="0"/>
                </a:lnTo>
                <a:lnTo>
                  <a:pt x="13960431" y="13960430"/>
                </a:lnTo>
                <a:lnTo>
                  <a:pt x="0" y="13960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6920" y="3256517"/>
            <a:ext cx="7495825" cy="3832932"/>
            <a:chOff x="0" y="0"/>
            <a:chExt cx="9994433" cy="511057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57150"/>
              <a:ext cx="9785207" cy="1252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70"/>
                </a:lnSpc>
              </a:pPr>
              <a:r>
                <a:rPr lang="en-US" b="true" sz="5900">
                  <a:solidFill>
                    <a:srgbClr val="2A2E3A"/>
                  </a:solidFill>
                  <a:latin typeface="K2D Bold"/>
                  <a:ea typeface="K2D Bold"/>
                  <a:cs typeface="K2D Bold"/>
                  <a:sym typeface="K2D Bold"/>
                </a:rPr>
                <a:t>PART 3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209226" y="1308610"/>
              <a:ext cx="9785207" cy="38019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619"/>
                </a:lnSpc>
              </a:pPr>
              <a:r>
                <a:rPr lang="en-US" b="true" sz="8299">
                  <a:solidFill>
                    <a:srgbClr val="FFDE59"/>
                  </a:solidFill>
                  <a:latin typeface="K2D Bold"/>
                  <a:ea typeface="K2D Bold"/>
                  <a:cs typeface="K2D Bold"/>
                  <a:sym typeface="K2D Bold"/>
                </a:rPr>
                <a:t>TE</a:t>
              </a:r>
              <a:r>
                <a:rPr lang="en-US" b="true" sz="8299">
                  <a:solidFill>
                    <a:srgbClr val="FFDE59"/>
                  </a:solidFill>
                  <a:latin typeface="K2D Bold"/>
                  <a:ea typeface="K2D Bold"/>
                  <a:cs typeface="K2D Bold"/>
                  <a:sym typeface="K2D Bold"/>
                </a:rPr>
                <a:t>CHNICAL</a:t>
              </a:r>
              <a:r>
                <a:rPr lang="en-US" b="true" sz="8299">
                  <a:solidFill>
                    <a:srgbClr val="FFDE59"/>
                  </a:solidFill>
                  <a:latin typeface="K2D Bold"/>
                  <a:ea typeface="K2D Bold"/>
                  <a:cs typeface="K2D Bold"/>
                  <a:sym typeface="K2D Bold"/>
                </a:rPr>
                <a:t> COMPONENTS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780748" y="93247"/>
            <a:ext cx="7121158" cy="1879495"/>
            <a:chOff x="0" y="0"/>
            <a:chExt cx="9494878" cy="2505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25580" y="282594"/>
              <a:ext cx="1940806" cy="1940806"/>
            </a:xfrm>
            <a:custGeom>
              <a:avLst/>
              <a:gdLst/>
              <a:ahLst/>
              <a:cxnLst/>
              <a:rect r="r" b="b" t="t" l="l"/>
              <a:pathLst>
                <a:path h="1940806" w="1940806">
                  <a:moveTo>
                    <a:pt x="0" y="0"/>
                  </a:moveTo>
                  <a:lnTo>
                    <a:pt x="1940805" y="0"/>
                  </a:lnTo>
                  <a:lnTo>
                    <a:pt x="1940805" y="1940805"/>
                  </a:lnTo>
                  <a:lnTo>
                    <a:pt x="0" y="19408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4999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427119" y="484133"/>
              <a:ext cx="1537728" cy="1537728"/>
            </a:xfrm>
            <a:custGeom>
              <a:avLst/>
              <a:gdLst/>
              <a:ahLst/>
              <a:cxnLst/>
              <a:rect r="r" b="b" t="t" l="l"/>
              <a:pathLst>
                <a:path h="1537728" w="1537728">
                  <a:moveTo>
                    <a:pt x="0" y="0"/>
                  </a:moveTo>
                  <a:lnTo>
                    <a:pt x="1537727" y="0"/>
                  </a:lnTo>
                  <a:lnTo>
                    <a:pt x="1537727" y="1537727"/>
                  </a:lnTo>
                  <a:lnTo>
                    <a:pt x="0" y="15377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969284" y="951098"/>
              <a:ext cx="453396" cy="603796"/>
            </a:xfrm>
            <a:custGeom>
              <a:avLst/>
              <a:gdLst/>
              <a:ahLst/>
              <a:cxnLst/>
              <a:rect r="r" b="b" t="t" l="l"/>
              <a:pathLst>
                <a:path h="603796" w="453396">
                  <a:moveTo>
                    <a:pt x="0" y="0"/>
                  </a:moveTo>
                  <a:lnTo>
                    <a:pt x="453397" y="0"/>
                  </a:lnTo>
                  <a:lnTo>
                    <a:pt x="453397" y="603797"/>
                  </a:lnTo>
                  <a:lnTo>
                    <a:pt x="0" y="603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10" id="10"/>
            <p:cNvGrpSpPr/>
            <p:nvPr/>
          </p:nvGrpSpPr>
          <p:grpSpPr>
            <a:xfrm rot="0">
              <a:off x="0" y="0"/>
              <a:ext cx="9494878" cy="2505993"/>
              <a:chOff x="0" y="0"/>
              <a:chExt cx="2347253" cy="61951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347253" cy="619513"/>
              </a:xfrm>
              <a:custGeom>
                <a:avLst/>
                <a:gdLst/>
                <a:ahLst/>
                <a:cxnLst/>
                <a:rect r="r" b="b" t="t" l="l"/>
                <a:pathLst>
                  <a:path h="619513" w="2347253">
                    <a:moveTo>
                      <a:pt x="55446" y="0"/>
                    </a:moveTo>
                    <a:lnTo>
                      <a:pt x="2291807" y="0"/>
                    </a:lnTo>
                    <a:cubicBezTo>
                      <a:pt x="2322429" y="0"/>
                      <a:pt x="2347253" y="24824"/>
                      <a:pt x="2347253" y="55446"/>
                    </a:cubicBezTo>
                    <a:lnTo>
                      <a:pt x="2347253" y="564067"/>
                    </a:lnTo>
                    <a:cubicBezTo>
                      <a:pt x="2347253" y="578772"/>
                      <a:pt x="2341411" y="592875"/>
                      <a:pt x="2331013" y="603273"/>
                    </a:cubicBezTo>
                    <a:cubicBezTo>
                      <a:pt x="2320615" y="613671"/>
                      <a:pt x="2306512" y="619513"/>
                      <a:pt x="2291807" y="619513"/>
                    </a:cubicBezTo>
                    <a:lnTo>
                      <a:pt x="55446" y="619513"/>
                    </a:lnTo>
                    <a:cubicBezTo>
                      <a:pt x="40741" y="619513"/>
                      <a:pt x="26638" y="613671"/>
                      <a:pt x="16240" y="603273"/>
                    </a:cubicBezTo>
                    <a:cubicBezTo>
                      <a:pt x="5842" y="592875"/>
                      <a:pt x="0" y="578772"/>
                      <a:pt x="0" y="564067"/>
                    </a:cubicBezTo>
                    <a:lnTo>
                      <a:pt x="0" y="55446"/>
                    </a:lnTo>
                    <a:cubicBezTo>
                      <a:pt x="0" y="24824"/>
                      <a:pt x="24824" y="0"/>
                      <a:pt x="5544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66675"/>
                <a:ext cx="2347253" cy="686188"/>
              </a:xfrm>
              <a:prstGeom prst="rect">
                <a:avLst/>
              </a:prstGeom>
            </p:spPr>
            <p:txBody>
              <a:bodyPr anchor="ctr" rtlCol="false" tIns="40591" lIns="40591" bIns="40591" rIns="40591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2678094" y="484133"/>
              <a:ext cx="6587709" cy="1440322"/>
              <a:chOff x="0" y="0"/>
              <a:chExt cx="1628564" cy="35606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628564" cy="356066"/>
              </a:xfrm>
              <a:custGeom>
                <a:avLst/>
                <a:gdLst/>
                <a:ahLst/>
                <a:cxnLst/>
                <a:rect r="r" b="b" t="t" l="l"/>
                <a:pathLst>
                  <a:path h="356066" w="1628564">
                    <a:moveTo>
                      <a:pt x="79914" y="0"/>
                    </a:moveTo>
                    <a:lnTo>
                      <a:pt x="1548650" y="0"/>
                    </a:lnTo>
                    <a:cubicBezTo>
                      <a:pt x="1569845" y="0"/>
                      <a:pt x="1590171" y="8419"/>
                      <a:pt x="1605158" y="23406"/>
                    </a:cubicBezTo>
                    <a:cubicBezTo>
                      <a:pt x="1620145" y="38393"/>
                      <a:pt x="1628564" y="58720"/>
                      <a:pt x="1628564" y="79914"/>
                    </a:cubicBezTo>
                    <a:lnTo>
                      <a:pt x="1628564" y="276152"/>
                    </a:lnTo>
                    <a:cubicBezTo>
                      <a:pt x="1628564" y="297346"/>
                      <a:pt x="1620145" y="317673"/>
                      <a:pt x="1605158" y="332659"/>
                    </a:cubicBezTo>
                    <a:cubicBezTo>
                      <a:pt x="1590171" y="347646"/>
                      <a:pt x="1569845" y="356066"/>
                      <a:pt x="1548650" y="356066"/>
                    </a:cubicBezTo>
                    <a:lnTo>
                      <a:pt x="79914" y="356066"/>
                    </a:lnTo>
                    <a:cubicBezTo>
                      <a:pt x="58720" y="356066"/>
                      <a:pt x="38393" y="347646"/>
                      <a:pt x="23406" y="332659"/>
                    </a:cubicBezTo>
                    <a:cubicBezTo>
                      <a:pt x="8419" y="317673"/>
                      <a:pt x="0" y="297346"/>
                      <a:pt x="0" y="276152"/>
                    </a:cubicBezTo>
                    <a:lnTo>
                      <a:pt x="0" y="79914"/>
                    </a:lnTo>
                    <a:cubicBezTo>
                      <a:pt x="0" y="58720"/>
                      <a:pt x="8419" y="38393"/>
                      <a:pt x="23406" y="23406"/>
                    </a:cubicBezTo>
                    <a:cubicBezTo>
                      <a:pt x="38393" y="8419"/>
                      <a:pt x="58720" y="0"/>
                      <a:pt x="79914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66675"/>
                <a:ext cx="1628564" cy="422741"/>
              </a:xfrm>
              <a:prstGeom prst="rect">
                <a:avLst/>
              </a:prstGeom>
            </p:spPr>
            <p:txBody>
              <a:bodyPr anchor="ctr" rtlCol="false" tIns="40591" lIns="40591" bIns="40591" rIns="40591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2920337" y="752602"/>
              <a:ext cx="1029506" cy="8022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94"/>
                </a:lnSpc>
                <a:spcBef>
                  <a:spcPct val="0"/>
                </a:spcBef>
              </a:pPr>
              <a:r>
                <a:rPr lang="en-US" b="true" sz="3995">
                  <a:solidFill>
                    <a:srgbClr val="FFFFFF"/>
                  </a:solidFill>
                  <a:latin typeface="K2D Bold"/>
                  <a:ea typeface="K2D Bold"/>
                  <a:cs typeface="K2D Bold"/>
                  <a:sym typeface="K2D Bold"/>
                </a:rPr>
                <a:t>3.1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779802" y="568778"/>
              <a:ext cx="5206033" cy="13208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068"/>
                </a:lnSpc>
                <a:spcBef>
                  <a:spcPct val="0"/>
                </a:spcBef>
              </a:pPr>
              <a:r>
                <a:rPr lang="en-US" b="true" sz="2905">
                  <a:solidFill>
                    <a:srgbClr val="FFDE59"/>
                  </a:solidFill>
                  <a:latin typeface="K2D Bold"/>
                  <a:ea typeface="K2D Bold"/>
                  <a:cs typeface="K2D Bold"/>
                  <a:sym typeface="K2D Bold"/>
                </a:rPr>
                <a:t>Modulation and Demodulation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686216" y="2115616"/>
            <a:ext cx="7121158" cy="1879495"/>
            <a:chOff x="0" y="0"/>
            <a:chExt cx="9494878" cy="2505993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9494878" cy="2505993"/>
              <a:chOff x="0" y="0"/>
              <a:chExt cx="2347253" cy="6195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347253" cy="619513"/>
              </a:xfrm>
              <a:custGeom>
                <a:avLst/>
                <a:gdLst/>
                <a:ahLst/>
                <a:cxnLst/>
                <a:rect r="r" b="b" t="t" l="l"/>
                <a:pathLst>
                  <a:path h="619513" w="2347253">
                    <a:moveTo>
                      <a:pt x="55446" y="0"/>
                    </a:moveTo>
                    <a:lnTo>
                      <a:pt x="2291807" y="0"/>
                    </a:lnTo>
                    <a:cubicBezTo>
                      <a:pt x="2322429" y="0"/>
                      <a:pt x="2347253" y="24824"/>
                      <a:pt x="2347253" y="55446"/>
                    </a:cubicBezTo>
                    <a:lnTo>
                      <a:pt x="2347253" y="564067"/>
                    </a:lnTo>
                    <a:cubicBezTo>
                      <a:pt x="2347253" y="578772"/>
                      <a:pt x="2341411" y="592875"/>
                      <a:pt x="2331013" y="603273"/>
                    </a:cubicBezTo>
                    <a:cubicBezTo>
                      <a:pt x="2320615" y="613671"/>
                      <a:pt x="2306512" y="619513"/>
                      <a:pt x="2291807" y="619513"/>
                    </a:cubicBezTo>
                    <a:lnTo>
                      <a:pt x="55446" y="619513"/>
                    </a:lnTo>
                    <a:cubicBezTo>
                      <a:pt x="40741" y="619513"/>
                      <a:pt x="26638" y="613671"/>
                      <a:pt x="16240" y="603273"/>
                    </a:cubicBezTo>
                    <a:cubicBezTo>
                      <a:pt x="5842" y="592875"/>
                      <a:pt x="0" y="578772"/>
                      <a:pt x="0" y="564067"/>
                    </a:cubicBezTo>
                    <a:lnTo>
                      <a:pt x="0" y="55446"/>
                    </a:lnTo>
                    <a:cubicBezTo>
                      <a:pt x="0" y="24824"/>
                      <a:pt x="24824" y="0"/>
                      <a:pt x="5544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66675"/>
                <a:ext cx="2347253" cy="686188"/>
              </a:xfrm>
              <a:prstGeom prst="rect">
                <a:avLst/>
              </a:prstGeom>
            </p:spPr>
            <p:txBody>
              <a:bodyPr anchor="ctr" rtlCol="false" tIns="40591" lIns="40591" bIns="40591" rIns="40591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Freeform 22" id="22"/>
            <p:cNvSpPr/>
            <p:nvPr/>
          </p:nvSpPr>
          <p:spPr>
            <a:xfrm flipH="false" flipV="false" rot="0">
              <a:off x="225580" y="282594"/>
              <a:ext cx="1940806" cy="1940806"/>
            </a:xfrm>
            <a:custGeom>
              <a:avLst/>
              <a:gdLst/>
              <a:ahLst/>
              <a:cxnLst/>
              <a:rect r="r" b="b" t="t" l="l"/>
              <a:pathLst>
                <a:path h="1940806" w="1940806">
                  <a:moveTo>
                    <a:pt x="0" y="0"/>
                  </a:moveTo>
                  <a:lnTo>
                    <a:pt x="1940805" y="0"/>
                  </a:lnTo>
                  <a:lnTo>
                    <a:pt x="1940805" y="1940805"/>
                  </a:lnTo>
                  <a:lnTo>
                    <a:pt x="0" y="19408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4999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427119" y="484133"/>
              <a:ext cx="1537728" cy="1537728"/>
            </a:xfrm>
            <a:custGeom>
              <a:avLst/>
              <a:gdLst/>
              <a:ahLst/>
              <a:cxnLst/>
              <a:rect r="r" b="b" t="t" l="l"/>
              <a:pathLst>
                <a:path h="1537728" w="1537728">
                  <a:moveTo>
                    <a:pt x="0" y="0"/>
                  </a:moveTo>
                  <a:lnTo>
                    <a:pt x="1537727" y="0"/>
                  </a:lnTo>
                  <a:lnTo>
                    <a:pt x="1537727" y="1537727"/>
                  </a:lnTo>
                  <a:lnTo>
                    <a:pt x="0" y="15377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969284" y="951098"/>
              <a:ext cx="453396" cy="603796"/>
            </a:xfrm>
            <a:custGeom>
              <a:avLst/>
              <a:gdLst/>
              <a:ahLst/>
              <a:cxnLst/>
              <a:rect r="r" b="b" t="t" l="l"/>
              <a:pathLst>
                <a:path h="603796" w="453396">
                  <a:moveTo>
                    <a:pt x="0" y="0"/>
                  </a:moveTo>
                  <a:lnTo>
                    <a:pt x="453397" y="0"/>
                  </a:lnTo>
                  <a:lnTo>
                    <a:pt x="453397" y="603797"/>
                  </a:lnTo>
                  <a:lnTo>
                    <a:pt x="0" y="603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25" id="25"/>
            <p:cNvGrpSpPr/>
            <p:nvPr/>
          </p:nvGrpSpPr>
          <p:grpSpPr>
            <a:xfrm rot="0">
              <a:off x="2678094" y="484133"/>
              <a:ext cx="6587709" cy="1537728"/>
              <a:chOff x="0" y="0"/>
              <a:chExt cx="1628564" cy="380146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628564" cy="380146"/>
              </a:xfrm>
              <a:custGeom>
                <a:avLst/>
                <a:gdLst/>
                <a:ahLst/>
                <a:cxnLst/>
                <a:rect r="r" b="b" t="t" l="l"/>
                <a:pathLst>
                  <a:path h="380146" w="1628564">
                    <a:moveTo>
                      <a:pt x="79914" y="0"/>
                    </a:moveTo>
                    <a:lnTo>
                      <a:pt x="1548650" y="0"/>
                    </a:lnTo>
                    <a:cubicBezTo>
                      <a:pt x="1569845" y="0"/>
                      <a:pt x="1590171" y="8419"/>
                      <a:pt x="1605158" y="23406"/>
                    </a:cubicBezTo>
                    <a:cubicBezTo>
                      <a:pt x="1620145" y="38393"/>
                      <a:pt x="1628564" y="58720"/>
                      <a:pt x="1628564" y="79914"/>
                    </a:cubicBezTo>
                    <a:lnTo>
                      <a:pt x="1628564" y="300231"/>
                    </a:lnTo>
                    <a:cubicBezTo>
                      <a:pt x="1628564" y="321426"/>
                      <a:pt x="1620145" y="341752"/>
                      <a:pt x="1605158" y="356739"/>
                    </a:cubicBezTo>
                    <a:cubicBezTo>
                      <a:pt x="1590171" y="371726"/>
                      <a:pt x="1569845" y="380146"/>
                      <a:pt x="1548650" y="380146"/>
                    </a:cubicBezTo>
                    <a:lnTo>
                      <a:pt x="79914" y="380146"/>
                    </a:lnTo>
                    <a:cubicBezTo>
                      <a:pt x="58720" y="380146"/>
                      <a:pt x="38393" y="371726"/>
                      <a:pt x="23406" y="356739"/>
                    </a:cubicBezTo>
                    <a:cubicBezTo>
                      <a:pt x="8419" y="341752"/>
                      <a:pt x="0" y="321426"/>
                      <a:pt x="0" y="300231"/>
                    </a:cubicBezTo>
                    <a:lnTo>
                      <a:pt x="0" y="79914"/>
                    </a:lnTo>
                    <a:cubicBezTo>
                      <a:pt x="0" y="58720"/>
                      <a:pt x="8419" y="38393"/>
                      <a:pt x="23406" y="23406"/>
                    </a:cubicBezTo>
                    <a:cubicBezTo>
                      <a:pt x="38393" y="8419"/>
                      <a:pt x="58720" y="0"/>
                      <a:pt x="79914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66675"/>
                <a:ext cx="1628564" cy="446821"/>
              </a:xfrm>
              <a:prstGeom prst="rect">
                <a:avLst/>
              </a:prstGeom>
            </p:spPr>
            <p:txBody>
              <a:bodyPr anchor="ctr" rtlCol="false" tIns="40591" lIns="40591" bIns="40591" rIns="40591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2907168" y="856613"/>
              <a:ext cx="1029506" cy="8022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94"/>
                </a:lnSpc>
                <a:spcBef>
                  <a:spcPct val="0"/>
                </a:spcBef>
              </a:pPr>
              <a:r>
                <a:rPr lang="en-US" b="true" sz="3995">
                  <a:solidFill>
                    <a:srgbClr val="FFFFFF"/>
                  </a:solidFill>
                  <a:latin typeface="K2D Bold"/>
                  <a:ea typeface="K2D Bold"/>
                  <a:cs typeface="K2D Bold"/>
                  <a:sym typeface="K2D Bold"/>
                </a:rPr>
                <a:t>3.2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3779802" y="709100"/>
              <a:ext cx="5206033" cy="1040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56"/>
                </a:lnSpc>
                <a:spcBef>
                  <a:spcPct val="0"/>
                </a:spcBef>
              </a:pPr>
              <a:r>
                <a:rPr lang="en-US" b="true" sz="2254">
                  <a:solidFill>
                    <a:srgbClr val="FFDE59"/>
                  </a:solidFill>
                  <a:latin typeface="K2D Bold"/>
                  <a:ea typeface="K2D Bold"/>
                  <a:cs typeface="K2D Bold"/>
                  <a:sym typeface="K2D Bold"/>
                </a:rPr>
                <a:t>Digital Transmission and Baseband Processing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686216" y="4203753"/>
            <a:ext cx="7121158" cy="1879495"/>
            <a:chOff x="0" y="0"/>
            <a:chExt cx="9494878" cy="2505993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9494878" cy="2505993"/>
              <a:chOff x="0" y="0"/>
              <a:chExt cx="2347253" cy="619513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347253" cy="619513"/>
              </a:xfrm>
              <a:custGeom>
                <a:avLst/>
                <a:gdLst/>
                <a:ahLst/>
                <a:cxnLst/>
                <a:rect r="r" b="b" t="t" l="l"/>
                <a:pathLst>
                  <a:path h="619513" w="2347253">
                    <a:moveTo>
                      <a:pt x="55446" y="0"/>
                    </a:moveTo>
                    <a:lnTo>
                      <a:pt x="2291807" y="0"/>
                    </a:lnTo>
                    <a:cubicBezTo>
                      <a:pt x="2322429" y="0"/>
                      <a:pt x="2347253" y="24824"/>
                      <a:pt x="2347253" y="55446"/>
                    </a:cubicBezTo>
                    <a:lnTo>
                      <a:pt x="2347253" y="564067"/>
                    </a:lnTo>
                    <a:cubicBezTo>
                      <a:pt x="2347253" y="578772"/>
                      <a:pt x="2341411" y="592875"/>
                      <a:pt x="2331013" y="603273"/>
                    </a:cubicBezTo>
                    <a:cubicBezTo>
                      <a:pt x="2320615" y="613671"/>
                      <a:pt x="2306512" y="619513"/>
                      <a:pt x="2291807" y="619513"/>
                    </a:cubicBezTo>
                    <a:lnTo>
                      <a:pt x="55446" y="619513"/>
                    </a:lnTo>
                    <a:cubicBezTo>
                      <a:pt x="40741" y="619513"/>
                      <a:pt x="26638" y="613671"/>
                      <a:pt x="16240" y="603273"/>
                    </a:cubicBezTo>
                    <a:cubicBezTo>
                      <a:pt x="5842" y="592875"/>
                      <a:pt x="0" y="578772"/>
                      <a:pt x="0" y="564067"/>
                    </a:cubicBezTo>
                    <a:lnTo>
                      <a:pt x="0" y="55446"/>
                    </a:lnTo>
                    <a:cubicBezTo>
                      <a:pt x="0" y="24824"/>
                      <a:pt x="24824" y="0"/>
                      <a:pt x="5544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66675"/>
                <a:ext cx="2347253" cy="686188"/>
              </a:xfrm>
              <a:prstGeom prst="rect">
                <a:avLst/>
              </a:prstGeom>
            </p:spPr>
            <p:txBody>
              <a:bodyPr anchor="ctr" rtlCol="false" tIns="40591" lIns="40591" bIns="40591" rIns="40591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Freeform 34" id="34"/>
            <p:cNvSpPr/>
            <p:nvPr/>
          </p:nvSpPr>
          <p:spPr>
            <a:xfrm flipH="false" flipV="false" rot="0">
              <a:off x="225580" y="282594"/>
              <a:ext cx="1940806" cy="1940806"/>
            </a:xfrm>
            <a:custGeom>
              <a:avLst/>
              <a:gdLst/>
              <a:ahLst/>
              <a:cxnLst/>
              <a:rect r="r" b="b" t="t" l="l"/>
              <a:pathLst>
                <a:path h="1940806" w="1940806">
                  <a:moveTo>
                    <a:pt x="0" y="0"/>
                  </a:moveTo>
                  <a:lnTo>
                    <a:pt x="1940805" y="0"/>
                  </a:lnTo>
                  <a:lnTo>
                    <a:pt x="1940805" y="1940805"/>
                  </a:lnTo>
                  <a:lnTo>
                    <a:pt x="0" y="19408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4999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427119" y="484133"/>
              <a:ext cx="1537728" cy="1537728"/>
            </a:xfrm>
            <a:custGeom>
              <a:avLst/>
              <a:gdLst/>
              <a:ahLst/>
              <a:cxnLst/>
              <a:rect r="r" b="b" t="t" l="l"/>
              <a:pathLst>
                <a:path h="1537728" w="1537728">
                  <a:moveTo>
                    <a:pt x="0" y="0"/>
                  </a:moveTo>
                  <a:lnTo>
                    <a:pt x="1537727" y="0"/>
                  </a:lnTo>
                  <a:lnTo>
                    <a:pt x="1537727" y="1537727"/>
                  </a:lnTo>
                  <a:lnTo>
                    <a:pt x="0" y="15377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969284" y="951098"/>
              <a:ext cx="453396" cy="603796"/>
            </a:xfrm>
            <a:custGeom>
              <a:avLst/>
              <a:gdLst/>
              <a:ahLst/>
              <a:cxnLst/>
              <a:rect r="r" b="b" t="t" l="l"/>
              <a:pathLst>
                <a:path h="603796" w="453396">
                  <a:moveTo>
                    <a:pt x="0" y="0"/>
                  </a:moveTo>
                  <a:lnTo>
                    <a:pt x="453397" y="0"/>
                  </a:lnTo>
                  <a:lnTo>
                    <a:pt x="453397" y="603797"/>
                  </a:lnTo>
                  <a:lnTo>
                    <a:pt x="0" y="603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37" id="37"/>
            <p:cNvGrpSpPr/>
            <p:nvPr/>
          </p:nvGrpSpPr>
          <p:grpSpPr>
            <a:xfrm rot="0">
              <a:off x="2678094" y="484133"/>
              <a:ext cx="6587709" cy="1537728"/>
              <a:chOff x="0" y="0"/>
              <a:chExt cx="1628564" cy="380146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628564" cy="380146"/>
              </a:xfrm>
              <a:custGeom>
                <a:avLst/>
                <a:gdLst/>
                <a:ahLst/>
                <a:cxnLst/>
                <a:rect r="r" b="b" t="t" l="l"/>
                <a:pathLst>
                  <a:path h="380146" w="1628564">
                    <a:moveTo>
                      <a:pt x="79914" y="0"/>
                    </a:moveTo>
                    <a:lnTo>
                      <a:pt x="1548650" y="0"/>
                    </a:lnTo>
                    <a:cubicBezTo>
                      <a:pt x="1569845" y="0"/>
                      <a:pt x="1590171" y="8419"/>
                      <a:pt x="1605158" y="23406"/>
                    </a:cubicBezTo>
                    <a:cubicBezTo>
                      <a:pt x="1620145" y="38393"/>
                      <a:pt x="1628564" y="58720"/>
                      <a:pt x="1628564" y="79914"/>
                    </a:cubicBezTo>
                    <a:lnTo>
                      <a:pt x="1628564" y="300231"/>
                    </a:lnTo>
                    <a:cubicBezTo>
                      <a:pt x="1628564" y="321426"/>
                      <a:pt x="1620145" y="341752"/>
                      <a:pt x="1605158" y="356739"/>
                    </a:cubicBezTo>
                    <a:cubicBezTo>
                      <a:pt x="1590171" y="371726"/>
                      <a:pt x="1569845" y="380146"/>
                      <a:pt x="1548650" y="380146"/>
                    </a:cubicBezTo>
                    <a:lnTo>
                      <a:pt x="79914" y="380146"/>
                    </a:lnTo>
                    <a:cubicBezTo>
                      <a:pt x="58720" y="380146"/>
                      <a:pt x="38393" y="371726"/>
                      <a:pt x="23406" y="356739"/>
                    </a:cubicBezTo>
                    <a:cubicBezTo>
                      <a:pt x="8419" y="341752"/>
                      <a:pt x="0" y="321426"/>
                      <a:pt x="0" y="300231"/>
                    </a:cubicBezTo>
                    <a:lnTo>
                      <a:pt x="0" y="79914"/>
                    </a:lnTo>
                    <a:cubicBezTo>
                      <a:pt x="0" y="58720"/>
                      <a:pt x="8419" y="38393"/>
                      <a:pt x="23406" y="23406"/>
                    </a:cubicBezTo>
                    <a:cubicBezTo>
                      <a:pt x="38393" y="8419"/>
                      <a:pt x="58720" y="0"/>
                      <a:pt x="79914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66675"/>
                <a:ext cx="1628564" cy="446821"/>
              </a:xfrm>
              <a:prstGeom prst="rect">
                <a:avLst/>
              </a:prstGeom>
            </p:spPr>
            <p:txBody>
              <a:bodyPr anchor="ctr" rtlCol="false" tIns="40591" lIns="40591" bIns="40591" rIns="40591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2907168" y="856613"/>
              <a:ext cx="1193152" cy="8022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94"/>
                </a:lnSpc>
                <a:spcBef>
                  <a:spcPct val="0"/>
                </a:spcBef>
              </a:pPr>
              <a:r>
                <a:rPr lang="en-US" b="true" sz="3995">
                  <a:solidFill>
                    <a:srgbClr val="FFFFFF"/>
                  </a:solidFill>
                  <a:latin typeface="K2D Bold"/>
                  <a:ea typeface="K2D Bold"/>
                  <a:cs typeface="K2D Bold"/>
                  <a:sym typeface="K2D Bold"/>
                </a:rPr>
                <a:t>3.3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3779802" y="882369"/>
              <a:ext cx="5206033" cy="674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70"/>
                </a:lnSpc>
                <a:spcBef>
                  <a:spcPct val="0"/>
                </a:spcBef>
              </a:pPr>
              <a:r>
                <a:rPr lang="en-US" b="true" sz="3050">
                  <a:solidFill>
                    <a:srgbClr val="FFDE59"/>
                  </a:solidFill>
                  <a:latin typeface="K2D Bold"/>
                  <a:ea typeface="K2D Bold"/>
                  <a:cs typeface="K2D Bold"/>
                  <a:sym typeface="K2D Bold"/>
                </a:rPr>
                <a:t> Information Theory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686216" y="6292797"/>
            <a:ext cx="7121158" cy="1879495"/>
            <a:chOff x="0" y="0"/>
            <a:chExt cx="9494878" cy="2505993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9494878" cy="2505993"/>
              <a:chOff x="0" y="0"/>
              <a:chExt cx="2347253" cy="619513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2347253" cy="619513"/>
              </a:xfrm>
              <a:custGeom>
                <a:avLst/>
                <a:gdLst/>
                <a:ahLst/>
                <a:cxnLst/>
                <a:rect r="r" b="b" t="t" l="l"/>
                <a:pathLst>
                  <a:path h="619513" w="2347253">
                    <a:moveTo>
                      <a:pt x="55446" y="0"/>
                    </a:moveTo>
                    <a:lnTo>
                      <a:pt x="2291807" y="0"/>
                    </a:lnTo>
                    <a:cubicBezTo>
                      <a:pt x="2322429" y="0"/>
                      <a:pt x="2347253" y="24824"/>
                      <a:pt x="2347253" y="55446"/>
                    </a:cubicBezTo>
                    <a:lnTo>
                      <a:pt x="2347253" y="564067"/>
                    </a:lnTo>
                    <a:cubicBezTo>
                      <a:pt x="2347253" y="578772"/>
                      <a:pt x="2341411" y="592875"/>
                      <a:pt x="2331013" y="603273"/>
                    </a:cubicBezTo>
                    <a:cubicBezTo>
                      <a:pt x="2320615" y="613671"/>
                      <a:pt x="2306512" y="619513"/>
                      <a:pt x="2291807" y="619513"/>
                    </a:cubicBezTo>
                    <a:lnTo>
                      <a:pt x="55446" y="619513"/>
                    </a:lnTo>
                    <a:cubicBezTo>
                      <a:pt x="40741" y="619513"/>
                      <a:pt x="26638" y="613671"/>
                      <a:pt x="16240" y="603273"/>
                    </a:cubicBezTo>
                    <a:cubicBezTo>
                      <a:pt x="5842" y="592875"/>
                      <a:pt x="0" y="578772"/>
                      <a:pt x="0" y="564067"/>
                    </a:cubicBezTo>
                    <a:lnTo>
                      <a:pt x="0" y="55446"/>
                    </a:lnTo>
                    <a:cubicBezTo>
                      <a:pt x="0" y="24824"/>
                      <a:pt x="24824" y="0"/>
                      <a:pt x="5544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66675"/>
                <a:ext cx="2347253" cy="686188"/>
              </a:xfrm>
              <a:prstGeom prst="rect">
                <a:avLst/>
              </a:prstGeom>
            </p:spPr>
            <p:txBody>
              <a:bodyPr anchor="ctr" rtlCol="false" tIns="40591" lIns="40591" bIns="40591" rIns="40591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Freeform 46" id="46"/>
            <p:cNvSpPr/>
            <p:nvPr/>
          </p:nvSpPr>
          <p:spPr>
            <a:xfrm flipH="false" flipV="false" rot="0">
              <a:off x="225580" y="282594"/>
              <a:ext cx="1940806" cy="1940806"/>
            </a:xfrm>
            <a:custGeom>
              <a:avLst/>
              <a:gdLst/>
              <a:ahLst/>
              <a:cxnLst/>
              <a:rect r="r" b="b" t="t" l="l"/>
              <a:pathLst>
                <a:path h="1940806" w="1940806">
                  <a:moveTo>
                    <a:pt x="0" y="0"/>
                  </a:moveTo>
                  <a:lnTo>
                    <a:pt x="1940805" y="0"/>
                  </a:lnTo>
                  <a:lnTo>
                    <a:pt x="1940805" y="1940805"/>
                  </a:lnTo>
                  <a:lnTo>
                    <a:pt x="0" y="19408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4999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427119" y="484133"/>
              <a:ext cx="1537728" cy="1537728"/>
            </a:xfrm>
            <a:custGeom>
              <a:avLst/>
              <a:gdLst/>
              <a:ahLst/>
              <a:cxnLst/>
              <a:rect r="r" b="b" t="t" l="l"/>
              <a:pathLst>
                <a:path h="1537728" w="1537728">
                  <a:moveTo>
                    <a:pt x="0" y="0"/>
                  </a:moveTo>
                  <a:lnTo>
                    <a:pt x="1537727" y="0"/>
                  </a:lnTo>
                  <a:lnTo>
                    <a:pt x="1537727" y="1537727"/>
                  </a:lnTo>
                  <a:lnTo>
                    <a:pt x="0" y="15377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969284" y="951098"/>
              <a:ext cx="453396" cy="603796"/>
            </a:xfrm>
            <a:custGeom>
              <a:avLst/>
              <a:gdLst/>
              <a:ahLst/>
              <a:cxnLst/>
              <a:rect r="r" b="b" t="t" l="l"/>
              <a:pathLst>
                <a:path h="603796" w="453396">
                  <a:moveTo>
                    <a:pt x="0" y="0"/>
                  </a:moveTo>
                  <a:lnTo>
                    <a:pt x="453397" y="0"/>
                  </a:lnTo>
                  <a:lnTo>
                    <a:pt x="453397" y="603797"/>
                  </a:lnTo>
                  <a:lnTo>
                    <a:pt x="0" y="603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49" id="49"/>
            <p:cNvGrpSpPr/>
            <p:nvPr/>
          </p:nvGrpSpPr>
          <p:grpSpPr>
            <a:xfrm rot="0">
              <a:off x="2678094" y="484133"/>
              <a:ext cx="6587709" cy="1537728"/>
              <a:chOff x="0" y="0"/>
              <a:chExt cx="1628564" cy="380146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628564" cy="380146"/>
              </a:xfrm>
              <a:custGeom>
                <a:avLst/>
                <a:gdLst/>
                <a:ahLst/>
                <a:cxnLst/>
                <a:rect r="r" b="b" t="t" l="l"/>
                <a:pathLst>
                  <a:path h="380146" w="1628564">
                    <a:moveTo>
                      <a:pt x="79914" y="0"/>
                    </a:moveTo>
                    <a:lnTo>
                      <a:pt x="1548650" y="0"/>
                    </a:lnTo>
                    <a:cubicBezTo>
                      <a:pt x="1569845" y="0"/>
                      <a:pt x="1590171" y="8419"/>
                      <a:pt x="1605158" y="23406"/>
                    </a:cubicBezTo>
                    <a:cubicBezTo>
                      <a:pt x="1620145" y="38393"/>
                      <a:pt x="1628564" y="58720"/>
                      <a:pt x="1628564" y="79914"/>
                    </a:cubicBezTo>
                    <a:lnTo>
                      <a:pt x="1628564" y="300231"/>
                    </a:lnTo>
                    <a:cubicBezTo>
                      <a:pt x="1628564" y="321426"/>
                      <a:pt x="1620145" y="341752"/>
                      <a:pt x="1605158" y="356739"/>
                    </a:cubicBezTo>
                    <a:cubicBezTo>
                      <a:pt x="1590171" y="371726"/>
                      <a:pt x="1569845" y="380146"/>
                      <a:pt x="1548650" y="380146"/>
                    </a:cubicBezTo>
                    <a:lnTo>
                      <a:pt x="79914" y="380146"/>
                    </a:lnTo>
                    <a:cubicBezTo>
                      <a:pt x="58720" y="380146"/>
                      <a:pt x="38393" y="371726"/>
                      <a:pt x="23406" y="356739"/>
                    </a:cubicBezTo>
                    <a:cubicBezTo>
                      <a:pt x="8419" y="341752"/>
                      <a:pt x="0" y="321426"/>
                      <a:pt x="0" y="300231"/>
                    </a:cubicBezTo>
                    <a:lnTo>
                      <a:pt x="0" y="79914"/>
                    </a:lnTo>
                    <a:cubicBezTo>
                      <a:pt x="0" y="58720"/>
                      <a:pt x="8419" y="38393"/>
                      <a:pt x="23406" y="23406"/>
                    </a:cubicBezTo>
                    <a:cubicBezTo>
                      <a:pt x="38393" y="8419"/>
                      <a:pt x="58720" y="0"/>
                      <a:pt x="79914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66675"/>
                <a:ext cx="1628564" cy="446821"/>
              </a:xfrm>
              <a:prstGeom prst="rect">
                <a:avLst/>
              </a:prstGeom>
            </p:spPr>
            <p:txBody>
              <a:bodyPr anchor="ctr" rtlCol="false" tIns="40591" lIns="40591" bIns="40591" rIns="40591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2907168" y="856613"/>
              <a:ext cx="1225881" cy="8022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94"/>
                </a:lnSpc>
                <a:spcBef>
                  <a:spcPct val="0"/>
                </a:spcBef>
              </a:pPr>
              <a:r>
                <a:rPr lang="en-US" b="true" sz="3995">
                  <a:solidFill>
                    <a:srgbClr val="FFFFFF"/>
                  </a:solidFill>
                  <a:latin typeface="K2D Bold"/>
                  <a:ea typeface="K2D Bold"/>
                  <a:cs typeface="K2D Bold"/>
                  <a:sym typeface="K2D Bold"/>
                </a:rPr>
                <a:t>3.4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3779802" y="882369"/>
              <a:ext cx="5206033" cy="674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70"/>
                </a:lnSpc>
                <a:spcBef>
                  <a:spcPct val="0"/>
                </a:spcBef>
              </a:pPr>
              <a:r>
                <a:rPr lang="en-US" b="true" sz="3050">
                  <a:solidFill>
                    <a:srgbClr val="FFDE59"/>
                  </a:solidFill>
                  <a:latin typeface="K2D Bold"/>
                  <a:ea typeface="K2D Bold"/>
                  <a:cs typeface="K2D Bold"/>
                  <a:sym typeface="K2D Bold"/>
                </a:rPr>
                <a:t>Block Codes – CRC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7780748" y="8318553"/>
            <a:ext cx="7121158" cy="1879495"/>
            <a:chOff x="0" y="0"/>
            <a:chExt cx="9494878" cy="2505993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0" y="0"/>
              <a:ext cx="9494878" cy="2505993"/>
              <a:chOff x="0" y="0"/>
              <a:chExt cx="2347253" cy="619513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2347253" cy="619513"/>
              </a:xfrm>
              <a:custGeom>
                <a:avLst/>
                <a:gdLst/>
                <a:ahLst/>
                <a:cxnLst/>
                <a:rect r="r" b="b" t="t" l="l"/>
                <a:pathLst>
                  <a:path h="619513" w="2347253">
                    <a:moveTo>
                      <a:pt x="55446" y="0"/>
                    </a:moveTo>
                    <a:lnTo>
                      <a:pt x="2291807" y="0"/>
                    </a:lnTo>
                    <a:cubicBezTo>
                      <a:pt x="2322429" y="0"/>
                      <a:pt x="2347253" y="24824"/>
                      <a:pt x="2347253" y="55446"/>
                    </a:cubicBezTo>
                    <a:lnTo>
                      <a:pt x="2347253" y="564067"/>
                    </a:lnTo>
                    <a:cubicBezTo>
                      <a:pt x="2347253" y="578772"/>
                      <a:pt x="2341411" y="592875"/>
                      <a:pt x="2331013" y="603273"/>
                    </a:cubicBezTo>
                    <a:cubicBezTo>
                      <a:pt x="2320615" y="613671"/>
                      <a:pt x="2306512" y="619513"/>
                      <a:pt x="2291807" y="619513"/>
                    </a:cubicBezTo>
                    <a:lnTo>
                      <a:pt x="55446" y="619513"/>
                    </a:lnTo>
                    <a:cubicBezTo>
                      <a:pt x="40741" y="619513"/>
                      <a:pt x="26638" y="613671"/>
                      <a:pt x="16240" y="603273"/>
                    </a:cubicBezTo>
                    <a:cubicBezTo>
                      <a:pt x="5842" y="592875"/>
                      <a:pt x="0" y="578772"/>
                      <a:pt x="0" y="564067"/>
                    </a:cubicBezTo>
                    <a:lnTo>
                      <a:pt x="0" y="55446"/>
                    </a:lnTo>
                    <a:cubicBezTo>
                      <a:pt x="0" y="24824"/>
                      <a:pt x="24824" y="0"/>
                      <a:pt x="5544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66675"/>
                <a:ext cx="2347253" cy="686188"/>
              </a:xfrm>
              <a:prstGeom prst="rect">
                <a:avLst/>
              </a:prstGeom>
            </p:spPr>
            <p:txBody>
              <a:bodyPr anchor="ctr" rtlCol="false" tIns="40591" lIns="40591" bIns="40591" rIns="40591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Freeform 58" id="58"/>
            <p:cNvSpPr/>
            <p:nvPr/>
          </p:nvSpPr>
          <p:spPr>
            <a:xfrm flipH="false" flipV="false" rot="0">
              <a:off x="225580" y="282594"/>
              <a:ext cx="1940806" cy="1940806"/>
            </a:xfrm>
            <a:custGeom>
              <a:avLst/>
              <a:gdLst/>
              <a:ahLst/>
              <a:cxnLst/>
              <a:rect r="r" b="b" t="t" l="l"/>
              <a:pathLst>
                <a:path h="1940806" w="1940806">
                  <a:moveTo>
                    <a:pt x="0" y="0"/>
                  </a:moveTo>
                  <a:lnTo>
                    <a:pt x="1940805" y="0"/>
                  </a:lnTo>
                  <a:lnTo>
                    <a:pt x="1940805" y="1940805"/>
                  </a:lnTo>
                  <a:lnTo>
                    <a:pt x="0" y="19408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4999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427119" y="484133"/>
              <a:ext cx="1537728" cy="1537728"/>
            </a:xfrm>
            <a:custGeom>
              <a:avLst/>
              <a:gdLst/>
              <a:ahLst/>
              <a:cxnLst/>
              <a:rect r="r" b="b" t="t" l="l"/>
              <a:pathLst>
                <a:path h="1537728" w="1537728">
                  <a:moveTo>
                    <a:pt x="0" y="0"/>
                  </a:moveTo>
                  <a:lnTo>
                    <a:pt x="1537727" y="0"/>
                  </a:lnTo>
                  <a:lnTo>
                    <a:pt x="1537727" y="1537727"/>
                  </a:lnTo>
                  <a:lnTo>
                    <a:pt x="0" y="15377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969284" y="951098"/>
              <a:ext cx="453396" cy="603796"/>
            </a:xfrm>
            <a:custGeom>
              <a:avLst/>
              <a:gdLst/>
              <a:ahLst/>
              <a:cxnLst/>
              <a:rect r="r" b="b" t="t" l="l"/>
              <a:pathLst>
                <a:path h="603796" w="453396">
                  <a:moveTo>
                    <a:pt x="0" y="0"/>
                  </a:moveTo>
                  <a:lnTo>
                    <a:pt x="453397" y="0"/>
                  </a:lnTo>
                  <a:lnTo>
                    <a:pt x="453397" y="603797"/>
                  </a:lnTo>
                  <a:lnTo>
                    <a:pt x="0" y="603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61" id="61"/>
            <p:cNvGrpSpPr/>
            <p:nvPr/>
          </p:nvGrpSpPr>
          <p:grpSpPr>
            <a:xfrm rot="0">
              <a:off x="2678094" y="484133"/>
              <a:ext cx="6587709" cy="1537728"/>
              <a:chOff x="0" y="0"/>
              <a:chExt cx="1628564" cy="380146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1628564" cy="380146"/>
              </a:xfrm>
              <a:custGeom>
                <a:avLst/>
                <a:gdLst/>
                <a:ahLst/>
                <a:cxnLst/>
                <a:rect r="r" b="b" t="t" l="l"/>
                <a:pathLst>
                  <a:path h="380146" w="1628564">
                    <a:moveTo>
                      <a:pt x="79914" y="0"/>
                    </a:moveTo>
                    <a:lnTo>
                      <a:pt x="1548650" y="0"/>
                    </a:lnTo>
                    <a:cubicBezTo>
                      <a:pt x="1569845" y="0"/>
                      <a:pt x="1590171" y="8419"/>
                      <a:pt x="1605158" y="23406"/>
                    </a:cubicBezTo>
                    <a:cubicBezTo>
                      <a:pt x="1620145" y="38393"/>
                      <a:pt x="1628564" y="58720"/>
                      <a:pt x="1628564" y="79914"/>
                    </a:cubicBezTo>
                    <a:lnTo>
                      <a:pt x="1628564" y="300231"/>
                    </a:lnTo>
                    <a:cubicBezTo>
                      <a:pt x="1628564" y="321426"/>
                      <a:pt x="1620145" y="341752"/>
                      <a:pt x="1605158" y="356739"/>
                    </a:cubicBezTo>
                    <a:cubicBezTo>
                      <a:pt x="1590171" y="371726"/>
                      <a:pt x="1569845" y="380146"/>
                      <a:pt x="1548650" y="380146"/>
                    </a:cubicBezTo>
                    <a:lnTo>
                      <a:pt x="79914" y="380146"/>
                    </a:lnTo>
                    <a:cubicBezTo>
                      <a:pt x="58720" y="380146"/>
                      <a:pt x="38393" y="371726"/>
                      <a:pt x="23406" y="356739"/>
                    </a:cubicBezTo>
                    <a:cubicBezTo>
                      <a:pt x="8419" y="341752"/>
                      <a:pt x="0" y="321426"/>
                      <a:pt x="0" y="300231"/>
                    </a:cubicBezTo>
                    <a:lnTo>
                      <a:pt x="0" y="79914"/>
                    </a:lnTo>
                    <a:cubicBezTo>
                      <a:pt x="0" y="58720"/>
                      <a:pt x="8419" y="38393"/>
                      <a:pt x="23406" y="23406"/>
                    </a:cubicBezTo>
                    <a:cubicBezTo>
                      <a:pt x="38393" y="8419"/>
                      <a:pt x="58720" y="0"/>
                      <a:pt x="79914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66675"/>
                <a:ext cx="1628564" cy="446821"/>
              </a:xfrm>
              <a:prstGeom prst="rect">
                <a:avLst/>
              </a:prstGeom>
            </p:spPr>
            <p:txBody>
              <a:bodyPr anchor="ctr" rtlCol="false" tIns="40591" lIns="40591" bIns="40591" rIns="40591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64" id="64"/>
            <p:cNvSpPr txBox="true"/>
            <p:nvPr/>
          </p:nvSpPr>
          <p:spPr>
            <a:xfrm rot="0">
              <a:off x="2907168" y="856613"/>
              <a:ext cx="1029506" cy="8022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94"/>
                </a:lnSpc>
                <a:spcBef>
                  <a:spcPct val="0"/>
                </a:spcBef>
              </a:pPr>
              <a:r>
                <a:rPr lang="en-US" b="true" sz="3995">
                  <a:solidFill>
                    <a:srgbClr val="FFFFFF"/>
                  </a:solidFill>
                  <a:latin typeface="K2D Bold"/>
                  <a:ea typeface="K2D Bold"/>
                  <a:cs typeface="K2D Bold"/>
                  <a:sym typeface="K2D Bold"/>
                </a:rPr>
                <a:t>3.5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3779802" y="882369"/>
              <a:ext cx="5206033" cy="674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70"/>
                </a:lnSpc>
                <a:spcBef>
                  <a:spcPct val="0"/>
                </a:spcBef>
              </a:pPr>
              <a:r>
                <a:rPr lang="en-US" b="true" sz="3050">
                  <a:solidFill>
                    <a:srgbClr val="FFDE59"/>
                  </a:solidFill>
                  <a:latin typeface="K2D Bold"/>
                  <a:ea typeface="K2D Bold"/>
                  <a:cs typeface="K2D Bold"/>
                  <a:sym typeface="K2D Bold"/>
                </a:rPr>
                <a:t>Channel Coding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4433" y="-2046607"/>
            <a:ext cx="19296866" cy="4574304"/>
            <a:chOff x="0" y="0"/>
            <a:chExt cx="25729155" cy="60990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72578" y="0"/>
              <a:ext cx="24384000" cy="4811609"/>
            </a:xfrm>
            <a:custGeom>
              <a:avLst/>
              <a:gdLst/>
              <a:ahLst/>
              <a:cxnLst/>
              <a:rect r="r" b="b" t="t" l="l"/>
              <a:pathLst>
                <a:path h="481160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11609"/>
                  </a:lnTo>
                  <a:lnTo>
                    <a:pt x="0" y="48116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84715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672578" y="2944142"/>
              <a:ext cx="24384000" cy="1475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099"/>
                </a:lnSpc>
              </a:pPr>
              <a:r>
                <a:rPr lang="en-US" b="true" sz="6999">
                  <a:solidFill>
                    <a:srgbClr val="FFFFFF"/>
                  </a:solidFill>
                  <a:latin typeface="K2D Bold"/>
                  <a:ea typeface="K2D Bold"/>
                  <a:cs typeface="K2D Bold"/>
                  <a:sym typeface="K2D Bold"/>
                </a:rPr>
                <a:t>PART 3. TECHNICAL COMPONENTS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4812014"/>
              <a:ext cx="25729155" cy="1287057"/>
              <a:chOff x="0" y="0"/>
              <a:chExt cx="5082302" cy="25423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082302" cy="254234"/>
              </a:xfrm>
              <a:custGeom>
                <a:avLst/>
                <a:gdLst/>
                <a:ahLst/>
                <a:cxnLst/>
                <a:rect r="r" b="b" t="t" l="l"/>
                <a:pathLst>
                  <a:path h="254234" w="5082302">
                    <a:moveTo>
                      <a:pt x="20461" y="0"/>
                    </a:moveTo>
                    <a:lnTo>
                      <a:pt x="5061841" y="0"/>
                    </a:lnTo>
                    <a:cubicBezTo>
                      <a:pt x="5073142" y="0"/>
                      <a:pt x="5082302" y="9161"/>
                      <a:pt x="5082302" y="20461"/>
                    </a:cubicBezTo>
                    <a:lnTo>
                      <a:pt x="5082302" y="233772"/>
                    </a:lnTo>
                    <a:cubicBezTo>
                      <a:pt x="5082302" y="245073"/>
                      <a:pt x="5073142" y="254234"/>
                      <a:pt x="5061841" y="254234"/>
                    </a:cubicBezTo>
                    <a:lnTo>
                      <a:pt x="20461" y="254234"/>
                    </a:lnTo>
                    <a:cubicBezTo>
                      <a:pt x="9161" y="254234"/>
                      <a:pt x="0" y="245073"/>
                      <a:pt x="0" y="233772"/>
                    </a:cubicBezTo>
                    <a:lnTo>
                      <a:pt x="0" y="20461"/>
                    </a:lnTo>
                    <a:cubicBezTo>
                      <a:pt x="0" y="9161"/>
                      <a:pt x="9161" y="0"/>
                      <a:pt x="20461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5082302" cy="3209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672578" y="4904151"/>
              <a:ext cx="24384000" cy="1055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00"/>
                </a:lnSpc>
              </a:pPr>
              <a:r>
                <a:rPr lang="en-US" b="true" sz="5000">
                  <a:solidFill>
                    <a:srgbClr val="153969"/>
                  </a:solidFill>
                  <a:latin typeface="K2D Bold"/>
                  <a:ea typeface="K2D Bold"/>
                  <a:cs typeface="K2D Bold"/>
                  <a:sym typeface="K2D Bold"/>
                </a:rPr>
                <a:t>3.1. Modulation and Demodulation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2771116"/>
            <a:ext cx="16503544" cy="2372384"/>
          </a:xfrm>
          <a:custGeom>
            <a:avLst/>
            <a:gdLst/>
            <a:ahLst/>
            <a:cxnLst/>
            <a:rect r="r" b="b" t="t" l="l"/>
            <a:pathLst>
              <a:path h="2372384" w="16503544">
                <a:moveTo>
                  <a:pt x="0" y="0"/>
                </a:moveTo>
                <a:lnTo>
                  <a:pt x="16503544" y="0"/>
                </a:lnTo>
                <a:lnTo>
                  <a:pt x="16503544" y="2372384"/>
                </a:lnTo>
                <a:lnTo>
                  <a:pt x="0" y="23723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10" id="10"/>
          <p:cNvGrpSpPr/>
          <p:nvPr/>
        </p:nvGrpSpPr>
        <p:grpSpPr>
          <a:xfrm rot="0">
            <a:off x="1028700" y="5890961"/>
            <a:ext cx="7618773" cy="3664049"/>
            <a:chOff x="0" y="0"/>
            <a:chExt cx="10158364" cy="4885398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0158364" cy="4403695"/>
              <a:chOff x="0" y="0"/>
              <a:chExt cx="3139319" cy="1360908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139319" cy="1360908"/>
              </a:xfrm>
              <a:custGeom>
                <a:avLst/>
                <a:gdLst/>
                <a:ahLst/>
                <a:cxnLst/>
                <a:rect r="r" b="b" t="t" l="l"/>
                <a:pathLst>
                  <a:path h="1360908" w="3139319">
                    <a:moveTo>
                      <a:pt x="62389" y="0"/>
                    </a:moveTo>
                    <a:lnTo>
                      <a:pt x="3076930" y="0"/>
                    </a:lnTo>
                    <a:cubicBezTo>
                      <a:pt x="3093476" y="0"/>
                      <a:pt x="3109345" y="6573"/>
                      <a:pt x="3121045" y="18273"/>
                    </a:cubicBezTo>
                    <a:cubicBezTo>
                      <a:pt x="3132746" y="29973"/>
                      <a:pt x="3139319" y="45842"/>
                      <a:pt x="3139319" y="62389"/>
                    </a:cubicBezTo>
                    <a:lnTo>
                      <a:pt x="3139319" y="1298519"/>
                    </a:lnTo>
                    <a:cubicBezTo>
                      <a:pt x="3139319" y="1332976"/>
                      <a:pt x="3111386" y="1360908"/>
                      <a:pt x="3076930" y="1360908"/>
                    </a:cubicBezTo>
                    <a:lnTo>
                      <a:pt x="62389" y="1360908"/>
                    </a:lnTo>
                    <a:cubicBezTo>
                      <a:pt x="45842" y="1360908"/>
                      <a:pt x="29973" y="1354335"/>
                      <a:pt x="18273" y="1342635"/>
                    </a:cubicBezTo>
                    <a:cubicBezTo>
                      <a:pt x="6573" y="1330935"/>
                      <a:pt x="0" y="1315066"/>
                      <a:pt x="0" y="1298519"/>
                    </a:cubicBezTo>
                    <a:lnTo>
                      <a:pt x="0" y="62389"/>
                    </a:lnTo>
                    <a:cubicBezTo>
                      <a:pt x="0" y="45842"/>
                      <a:pt x="6573" y="29973"/>
                      <a:pt x="18273" y="18273"/>
                    </a:cubicBezTo>
                    <a:cubicBezTo>
                      <a:pt x="29973" y="6573"/>
                      <a:pt x="45842" y="0"/>
                      <a:pt x="62389" y="0"/>
                    </a:cubicBezTo>
                    <a:close/>
                  </a:path>
                </a:pathLst>
              </a:custGeom>
              <a:solidFill>
                <a:srgbClr val="2B5895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66675"/>
                <a:ext cx="3139319" cy="1427583"/>
              </a:xfrm>
              <a:prstGeom prst="rect">
                <a:avLst/>
              </a:prstGeom>
            </p:spPr>
            <p:txBody>
              <a:bodyPr anchor="ctr" rtlCol="false" tIns="26972" lIns="26972" bIns="26972" rIns="26972"/>
              <a:lstStyle/>
              <a:p>
                <a:pPr algn="just">
                  <a:lnSpc>
                    <a:spcPts val="3640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285748" y="384478"/>
              <a:ext cx="9586868" cy="4500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9"/>
                </a:lnSpc>
                <a:spcBef>
                  <a:spcPct val="0"/>
                </a:spcBef>
              </a:pP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+ 5G Small C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ll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 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map b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it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→ symbols using QPSK, 16-Q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, 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64-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Q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AM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(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mplitu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+ ph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).</a:t>
              </a:r>
            </a:p>
            <a:p>
              <a:pPr algn="l">
                <a:lnSpc>
                  <a:spcPts val="3379"/>
                </a:lnSpc>
                <a:spcBef>
                  <a:spcPct val="0"/>
                </a:spcBef>
              </a:pP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+ QAM sy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bols are ass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gned 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 OFDM subcarr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ers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to 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redu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 i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doo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mu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lti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path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ef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f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ec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ts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.</a:t>
              </a:r>
            </a:p>
            <a:p>
              <a:pPr algn="l">
                <a:lnSpc>
                  <a:spcPts val="3379"/>
                </a:lnSpc>
                <a:spcBef>
                  <a:spcPct val="0"/>
                </a:spcBef>
              </a:pPr>
              <a:r>
                <a:rPr lang="en-US" b="true" sz="2413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+OFDM splits b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ndwidt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h 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into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m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u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tip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le 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or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ogonal subcarri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er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 → mor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robus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 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trans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mi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ssion.</a:t>
              </a:r>
            </a:p>
            <a:p>
              <a:pPr algn="just">
                <a:lnSpc>
                  <a:spcPts val="3379"/>
                </a:lnSpc>
                <a:spcBef>
                  <a:spcPct val="0"/>
                </a:spcBef>
              </a:pP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</a:p>
            <a:p>
              <a:pPr algn="just">
                <a:lnSpc>
                  <a:spcPts val="33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821035" y="5890961"/>
            <a:ext cx="7711209" cy="3314742"/>
            <a:chOff x="0" y="0"/>
            <a:chExt cx="10281612" cy="4419655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0281612" cy="4419655"/>
              <a:chOff x="0" y="0"/>
              <a:chExt cx="3165932" cy="136090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165932" cy="1360908"/>
              </a:xfrm>
              <a:custGeom>
                <a:avLst/>
                <a:gdLst/>
                <a:ahLst/>
                <a:cxnLst/>
                <a:rect r="r" b="b" t="t" l="l"/>
                <a:pathLst>
                  <a:path h="1360908" w="3165932">
                    <a:moveTo>
                      <a:pt x="61864" y="0"/>
                    </a:moveTo>
                    <a:lnTo>
                      <a:pt x="3104068" y="0"/>
                    </a:lnTo>
                    <a:cubicBezTo>
                      <a:pt x="3138235" y="0"/>
                      <a:pt x="3165932" y="27698"/>
                      <a:pt x="3165932" y="61864"/>
                    </a:cubicBezTo>
                    <a:lnTo>
                      <a:pt x="3165932" y="1299044"/>
                    </a:lnTo>
                    <a:cubicBezTo>
                      <a:pt x="3165932" y="1333211"/>
                      <a:pt x="3138235" y="1360908"/>
                      <a:pt x="3104068" y="1360908"/>
                    </a:cubicBezTo>
                    <a:lnTo>
                      <a:pt x="61864" y="1360908"/>
                    </a:lnTo>
                    <a:cubicBezTo>
                      <a:pt x="27698" y="1360908"/>
                      <a:pt x="0" y="1333211"/>
                      <a:pt x="0" y="1299044"/>
                    </a:cubicBezTo>
                    <a:lnTo>
                      <a:pt x="0" y="61864"/>
                    </a:lnTo>
                    <a:cubicBezTo>
                      <a:pt x="0" y="27698"/>
                      <a:pt x="27698" y="0"/>
                      <a:pt x="61864" y="0"/>
                    </a:cubicBezTo>
                    <a:close/>
                  </a:path>
                </a:pathLst>
              </a:custGeom>
              <a:solidFill>
                <a:srgbClr val="2B5895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66675"/>
                <a:ext cx="3165932" cy="1427583"/>
              </a:xfrm>
              <a:prstGeom prst="rect">
                <a:avLst/>
              </a:prstGeom>
            </p:spPr>
            <p:txBody>
              <a:bodyPr anchor="ctr" rtlCol="false" tIns="26972" lIns="26972" bIns="26972" rIns="26972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329999" y="216135"/>
              <a:ext cx="9621614" cy="39397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391"/>
                </a:lnSpc>
                <a:spcBef>
                  <a:spcPct val="0"/>
                </a:spcBef>
              </a:pP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</a:p>
            <a:p>
              <a:pPr algn="just">
                <a:lnSpc>
                  <a:spcPts val="3391"/>
                </a:lnSpc>
                <a:spcBef>
                  <a:spcPct val="0"/>
                </a:spcBef>
              </a:pP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+ IFFT 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co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mbines subc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rri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rs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int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a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ti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e-do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ma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in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g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nal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; UE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us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FFT t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s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pa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and 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demodula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e.</a:t>
              </a:r>
            </a:p>
            <a:p>
              <a:pPr algn="just">
                <a:lnSpc>
                  <a:spcPts val="3391"/>
                </a:lnSpc>
                <a:spcBef>
                  <a:spcPct val="0"/>
                </a:spcBef>
              </a:pP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+ High-o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der QAM + OFDM → h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gh data ra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e, 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trong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in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erferenc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 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re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si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sta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ce, ide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al 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f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or 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Small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lls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.</a:t>
              </a:r>
            </a:p>
            <a:p>
              <a:pPr algn="just">
                <a:lnSpc>
                  <a:spcPts val="3391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4433" y="-2046607"/>
            <a:ext cx="19296866" cy="4574304"/>
            <a:chOff x="0" y="0"/>
            <a:chExt cx="25729155" cy="60990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72578" y="0"/>
              <a:ext cx="24384000" cy="4811609"/>
            </a:xfrm>
            <a:custGeom>
              <a:avLst/>
              <a:gdLst/>
              <a:ahLst/>
              <a:cxnLst/>
              <a:rect r="r" b="b" t="t" l="l"/>
              <a:pathLst>
                <a:path h="481160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11609"/>
                  </a:lnTo>
                  <a:lnTo>
                    <a:pt x="0" y="48116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84715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672578" y="2944142"/>
              <a:ext cx="24384000" cy="1475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099"/>
                </a:lnSpc>
              </a:pPr>
              <a:r>
                <a:rPr lang="en-US" b="true" sz="6999">
                  <a:solidFill>
                    <a:srgbClr val="FFFFFF"/>
                  </a:solidFill>
                  <a:latin typeface="K2D Bold"/>
                  <a:ea typeface="K2D Bold"/>
                  <a:cs typeface="K2D Bold"/>
                  <a:sym typeface="K2D Bold"/>
                </a:rPr>
                <a:t>PART 3. TECHNICAL COMPONENTS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4812014"/>
              <a:ext cx="25729155" cy="1287057"/>
              <a:chOff x="0" y="0"/>
              <a:chExt cx="5082302" cy="25423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082302" cy="254234"/>
              </a:xfrm>
              <a:custGeom>
                <a:avLst/>
                <a:gdLst/>
                <a:ahLst/>
                <a:cxnLst/>
                <a:rect r="r" b="b" t="t" l="l"/>
                <a:pathLst>
                  <a:path h="254234" w="5082302">
                    <a:moveTo>
                      <a:pt x="20461" y="0"/>
                    </a:moveTo>
                    <a:lnTo>
                      <a:pt x="5061841" y="0"/>
                    </a:lnTo>
                    <a:cubicBezTo>
                      <a:pt x="5073142" y="0"/>
                      <a:pt x="5082302" y="9161"/>
                      <a:pt x="5082302" y="20461"/>
                    </a:cubicBezTo>
                    <a:lnTo>
                      <a:pt x="5082302" y="233772"/>
                    </a:lnTo>
                    <a:cubicBezTo>
                      <a:pt x="5082302" y="245073"/>
                      <a:pt x="5073142" y="254234"/>
                      <a:pt x="5061841" y="254234"/>
                    </a:cubicBezTo>
                    <a:lnTo>
                      <a:pt x="20461" y="254234"/>
                    </a:lnTo>
                    <a:cubicBezTo>
                      <a:pt x="9161" y="254234"/>
                      <a:pt x="0" y="245073"/>
                      <a:pt x="0" y="233772"/>
                    </a:cubicBezTo>
                    <a:lnTo>
                      <a:pt x="0" y="20461"/>
                    </a:lnTo>
                    <a:cubicBezTo>
                      <a:pt x="0" y="9161"/>
                      <a:pt x="9161" y="0"/>
                      <a:pt x="20461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5082302" cy="3209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672578" y="4904151"/>
              <a:ext cx="24384000" cy="1055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00"/>
                </a:lnSpc>
              </a:pPr>
              <a:r>
                <a:rPr lang="en-US" b="true" sz="5000">
                  <a:solidFill>
                    <a:srgbClr val="153969"/>
                  </a:solidFill>
                  <a:latin typeface="K2D Bold"/>
                  <a:ea typeface="K2D Bold"/>
                  <a:cs typeface="K2D Bold"/>
                  <a:sym typeface="K2D Bold"/>
                </a:rPr>
                <a:t>3.2. Digital Transmission and Baseband Processing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04102" y="6341863"/>
            <a:ext cx="7618773" cy="4224936"/>
            <a:chOff x="0" y="0"/>
            <a:chExt cx="10158364" cy="563324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226965"/>
              <a:ext cx="10158364" cy="4403695"/>
              <a:chOff x="0" y="0"/>
              <a:chExt cx="3139319" cy="136090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139319" cy="1360908"/>
              </a:xfrm>
              <a:custGeom>
                <a:avLst/>
                <a:gdLst/>
                <a:ahLst/>
                <a:cxnLst/>
                <a:rect r="r" b="b" t="t" l="l"/>
                <a:pathLst>
                  <a:path h="1360908" w="3139319">
                    <a:moveTo>
                      <a:pt x="51824" y="0"/>
                    </a:moveTo>
                    <a:lnTo>
                      <a:pt x="3087494" y="0"/>
                    </a:lnTo>
                    <a:cubicBezTo>
                      <a:pt x="3116116" y="0"/>
                      <a:pt x="3139319" y="23203"/>
                      <a:pt x="3139319" y="51824"/>
                    </a:cubicBezTo>
                    <a:lnTo>
                      <a:pt x="3139319" y="1309084"/>
                    </a:lnTo>
                    <a:cubicBezTo>
                      <a:pt x="3139319" y="1337706"/>
                      <a:pt x="3116116" y="1360908"/>
                      <a:pt x="3087494" y="1360908"/>
                    </a:cubicBezTo>
                    <a:lnTo>
                      <a:pt x="51824" y="1360908"/>
                    </a:lnTo>
                    <a:cubicBezTo>
                      <a:pt x="23203" y="1360908"/>
                      <a:pt x="0" y="1337706"/>
                      <a:pt x="0" y="1309084"/>
                    </a:cubicBezTo>
                    <a:lnTo>
                      <a:pt x="0" y="51824"/>
                    </a:lnTo>
                    <a:cubicBezTo>
                      <a:pt x="0" y="23203"/>
                      <a:pt x="23203" y="0"/>
                      <a:pt x="51824" y="0"/>
                    </a:cubicBezTo>
                    <a:close/>
                  </a:path>
                </a:pathLst>
              </a:custGeom>
              <a:solidFill>
                <a:srgbClr val="2B5895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66675"/>
                <a:ext cx="3139319" cy="1427583"/>
              </a:xfrm>
              <a:prstGeom prst="rect">
                <a:avLst/>
              </a:prstGeom>
            </p:spPr>
            <p:txBody>
              <a:bodyPr anchor="ctr" rtlCol="false" tIns="32470" lIns="32470" bIns="32470" rIns="32470"/>
              <a:lstStyle/>
              <a:p>
                <a:pPr algn="just">
                  <a:lnSpc>
                    <a:spcPts val="364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285748" y="-57150"/>
              <a:ext cx="9586868" cy="56903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379"/>
                </a:lnSpc>
                <a:spcBef>
                  <a:spcPct val="0"/>
                </a:spcBef>
              </a:pPr>
            </a:p>
            <a:p>
              <a:pPr algn="just" marL="521172" indent="-260586" lvl="1">
                <a:lnSpc>
                  <a:spcPts val="33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Live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stream/video-call signals are analog </a:t>
              </a:r>
            </a:p>
            <a:p>
              <a:pPr algn="just">
                <a:lnSpc>
                  <a:spcPts val="3379"/>
                </a:lnSpc>
                <a:spcBef>
                  <a:spcPct val="0"/>
                </a:spcBef>
              </a:pP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→ must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be digitized 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(s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mpling, quantization,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encoding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).</a:t>
              </a:r>
            </a:p>
            <a:p>
              <a:pPr algn="just" marL="521172" indent="-260586" lvl="1">
                <a:lnSpc>
                  <a:spcPts val="33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Amplitude 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is qua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ntized in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 discrete levels</a:t>
              </a:r>
            </a:p>
            <a:p>
              <a:pPr algn="just">
                <a:lnSpc>
                  <a:spcPts val="3379"/>
                </a:lnSpc>
                <a:spcBef>
                  <a:spcPct val="0"/>
                </a:spcBef>
              </a:pP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→ converted into a bitst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ream.</a:t>
              </a:r>
            </a:p>
            <a:p>
              <a:pPr algn="just" marL="521172" indent="-260586" lvl="1">
                <a:lnSpc>
                  <a:spcPts val="33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Video is large → comp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ressed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us</a:t>
              </a:r>
              <a:r>
                <a:rPr lang="en-US" sz="24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ing H.264/H.265.</a:t>
              </a:r>
            </a:p>
            <a:p>
              <a:pPr algn="just">
                <a:lnSpc>
                  <a:spcPts val="3379"/>
                </a:lnSpc>
                <a:spcBef>
                  <a:spcPct val="0"/>
                </a:spcBef>
              </a:pPr>
            </a:p>
            <a:p>
              <a:pPr algn="just">
                <a:lnSpc>
                  <a:spcPts val="33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48091" y="6532791"/>
            <a:ext cx="7711209" cy="3314742"/>
            <a:chOff x="0" y="0"/>
            <a:chExt cx="10281612" cy="4419655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0281612" cy="4419655"/>
              <a:chOff x="0" y="0"/>
              <a:chExt cx="3165932" cy="1360908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165932" cy="1360908"/>
              </a:xfrm>
              <a:custGeom>
                <a:avLst/>
                <a:gdLst/>
                <a:ahLst/>
                <a:cxnLst/>
                <a:rect r="r" b="b" t="t" l="l"/>
                <a:pathLst>
                  <a:path h="1360908" w="3165932">
                    <a:moveTo>
                      <a:pt x="51203" y="0"/>
                    </a:moveTo>
                    <a:lnTo>
                      <a:pt x="3114729" y="0"/>
                    </a:lnTo>
                    <a:cubicBezTo>
                      <a:pt x="3143008" y="0"/>
                      <a:pt x="3165932" y="22924"/>
                      <a:pt x="3165932" y="51203"/>
                    </a:cubicBezTo>
                    <a:lnTo>
                      <a:pt x="3165932" y="1309705"/>
                    </a:lnTo>
                    <a:cubicBezTo>
                      <a:pt x="3165932" y="1337984"/>
                      <a:pt x="3143008" y="1360908"/>
                      <a:pt x="3114729" y="1360908"/>
                    </a:cubicBezTo>
                    <a:lnTo>
                      <a:pt x="51203" y="1360908"/>
                    </a:lnTo>
                    <a:cubicBezTo>
                      <a:pt x="22924" y="1360908"/>
                      <a:pt x="0" y="1337984"/>
                      <a:pt x="0" y="1309705"/>
                    </a:cubicBezTo>
                    <a:lnTo>
                      <a:pt x="0" y="51203"/>
                    </a:lnTo>
                    <a:cubicBezTo>
                      <a:pt x="0" y="22924"/>
                      <a:pt x="22924" y="0"/>
                      <a:pt x="51203" y="0"/>
                    </a:cubicBezTo>
                    <a:close/>
                  </a:path>
                </a:pathLst>
              </a:custGeom>
              <a:solidFill>
                <a:srgbClr val="2B5895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66675"/>
                <a:ext cx="3165932" cy="1427583"/>
              </a:xfrm>
              <a:prstGeom prst="rect">
                <a:avLst/>
              </a:prstGeom>
            </p:spPr>
            <p:txBody>
              <a:bodyPr anchor="ctr" rtlCol="false" tIns="32588" lIns="32588" bIns="32588" rIns="32588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133022" y="216135"/>
              <a:ext cx="9621614" cy="39397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23062" indent="-261531" lvl="1">
                <a:lnSpc>
                  <a:spcPts val="339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H.265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redu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es b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ndwidth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by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~40–50%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d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u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t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fl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exibl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blocks and b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et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er prediction.</a:t>
              </a:r>
            </a:p>
            <a:p>
              <a:pPr algn="just">
                <a:lnSpc>
                  <a:spcPts val="3391"/>
                </a:lnSpc>
                <a:spcBef>
                  <a:spcPct val="0"/>
                </a:spcBef>
              </a:pPr>
            </a:p>
            <a:p>
              <a:pPr algn="just" marL="523062" indent="-261531" lvl="1">
                <a:lnSpc>
                  <a:spcPts val="339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Efficient comp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ession helps Small Cells 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tay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stabl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 even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wi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 ma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ny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simult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aneous 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livestr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eam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</a:t>
              </a:r>
              <a:r>
                <a:rPr lang="en-US" sz="242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.</a:t>
              </a:r>
            </a:p>
            <a:p>
              <a:pPr algn="just">
                <a:lnSpc>
                  <a:spcPts val="3391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589565" y="2732817"/>
            <a:ext cx="15108869" cy="3399496"/>
          </a:xfrm>
          <a:custGeom>
            <a:avLst/>
            <a:gdLst/>
            <a:ahLst/>
            <a:cxnLst/>
            <a:rect r="r" b="b" t="t" l="l"/>
            <a:pathLst>
              <a:path h="3399496" w="15108869">
                <a:moveTo>
                  <a:pt x="0" y="0"/>
                </a:moveTo>
                <a:lnTo>
                  <a:pt x="15108870" y="0"/>
                </a:lnTo>
                <a:lnTo>
                  <a:pt x="15108870" y="3399496"/>
                </a:lnTo>
                <a:lnTo>
                  <a:pt x="0" y="33994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4433" y="-2046607"/>
            <a:ext cx="19296866" cy="4574304"/>
            <a:chOff x="0" y="0"/>
            <a:chExt cx="25729155" cy="60990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72578" y="0"/>
              <a:ext cx="24384000" cy="4811609"/>
            </a:xfrm>
            <a:custGeom>
              <a:avLst/>
              <a:gdLst/>
              <a:ahLst/>
              <a:cxnLst/>
              <a:rect r="r" b="b" t="t" l="l"/>
              <a:pathLst>
                <a:path h="481160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11609"/>
                  </a:lnTo>
                  <a:lnTo>
                    <a:pt x="0" y="48116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84715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672578" y="2944142"/>
              <a:ext cx="24384000" cy="1475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099"/>
                </a:lnSpc>
              </a:pPr>
              <a:r>
                <a:rPr lang="en-US" b="true" sz="6999">
                  <a:solidFill>
                    <a:srgbClr val="FFFFFF"/>
                  </a:solidFill>
                  <a:latin typeface="K2D Bold"/>
                  <a:ea typeface="K2D Bold"/>
                  <a:cs typeface="K2D Bold"/>
                  <a:sym typeface="K2D Bold"/>
                </a:rPr>
                <a:t>PART 3. TECHNICAL COMPONENTS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4812014"/>
              <a:ext cx="25729155" cy="1287057"/>
              <a:chOff x="0" y="0"/>
              <a:chExt cx="5082302" cy="25423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082302" cy="254234"/>
              </a:xfrm>
              <a:custGeom>
                <a:avLst/>
                <a:gdLst/>
                <a:ahLst/>
                <a:cxnLst/>
                <a:rect r="r" b="b" t="t" l="l"/>
                <a:pathLst>
                  <a:path h="254234" w="5082302">
                    <a:moveTo>
                      <a:pt x="20461" y="0"/>
                    </a:moveTo>
                    <a:lnTo>
                      <a:pt x="5061841" y="0"/>
                    </a:lnTo>
                    <a:cubicBezTo>
                      <a:pt x="5073142" y="0"/>
                      <a:pt x="5082302" y="9161"/>
                      <a:pt x="5082302" y="20461"/>
                    </a:cubicBezTo>
                    <a:lnTo>
                      <a:pt x="5082302" y="233772"/>
                    </a:lnTo>
                    <a:cubicBezTo>
                      <a:pt x="5082302" y="245073"/>
                      <a:pt x="5073142" y="254234"/>
                      <a:pt x="5061841" y="254234"/>
                    </a:cubicBezTo>
                    <a:lnTo>
                      <a:pt x="20461" y="254234"/>
                    </a:lnTo>
                    <a:cubicBezTo>
                      <a:pt x="9161" y="254234"/>
                      <a:pt x="0" y="245073"/>
                      <a:pt x="0" y="233772"/>
                    </a:cubicBezTo>
                    <a:lnTo>
                      <a:pt x="0" y="20461"/>
                    </a:lnTo>
                    <a:cubicBezTo>
                      <a:pt x="0" y="9161"/>
                      <a:pt x="9161" y="0"/>
                      <a:pt x="20461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5082302" cy="3209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672578" y="4904151"/>
              <a:ext cx="24384000" cy="1055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00"/>
                </a:lnSpc>
              </a:pPr>
              <a:r>
                <a:rPr lang="en-US" b="true" sz="5000">
                  <a:solidFill>
                    <a:srgbClr val="153969"/>
                  </a:solidFill>
                  <a:latin typeface="K2D Bold"/>
                  <a:ea typeface="K2D Bold"/>
                  <a:cs typeface="K2D Bold"/>
                  <a:sym typeface="K2D Bold"/>
                </a:rPr>
                <a:t>3.3.  Information Theory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7014" y="2866040"/>
            <a:ext cx="7618773" cy="2239579"/>
            <a:chOff x="0" y="0"/>
            <a:chExt cx="10158364" cy="298610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0158364" cy="2986105"/>
              <a:chOff x="0" y="0"/>
              <a:chExt cx="3139319" cy="92281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139319" cy="922819"/>
              </a:xfrm>
              <a:custGeom>
                <a:avLst/>
                <a:gdLst/>
                <a:ahLst/>
                <a:cxnLst/>
                <a:rect r="r" b="b" t="t" l="l"/>
                <a:pathLst>
                  <a:path h="922819" w="3139319">
                    <a:moveTo>
                      <a:pt x="51824" y="0"/>
                    </a:moveTo>
                    <a:lnTo>
                      <a:pt x="3087494" y="0"/>
                    </a:lnTo>
                    <a:cubicBezTo>
                      <a:pt x="3116116" y="0"/>
                      <a:pt x="3139319" y="23203"/>
                      <a:pt x="3139319" y="51824"/>
                    </a:cubicBezTo>
                    <a:lnTo>
                      <a:pt x="3139319" y="870995"/>
                    </a:lnTo>
                    <a:cubicBezTo>
                      <a:pt x="3139319" y="899617"/>
                      <a:pt x="3116116" y="922819"/>
                      <a:pt x="3087494" y="922819"/>
                    </a:cubicBezTo>
                    <a:lnTo>
                      <a:pt x="51824" y="922819"/>
                    </a:lnTo>
                    <a:cubicBezTo>
                      <a:pt x="23203" y="922819"/>
                      <a:pt x="0" y="899617"/>
                      <a:pt x="0" y="870995"/>
                    </a:cubicBezTo>
                    <a:lnTo>
                      <a:pt x="0" y="51824"/>
                    </a:lnTo>
                    <a:cubicBezTo>
                      <a:pt x="0" y="23203"/>
                      <a:pt x="23203" y="0"/>
                      <a:pt x="51824" y="0"/>
                    </a:cubicBezTo>
                    <a:close/>
                  </a:path>
                </a:pathLst>
              </a:custGeom>
              <a:solidFill>
                <a:srgbClr val="2B5895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66675"/>
                <a:ext cx="3139319" cy="989494"/>
              </a:xfrm>
              <a:prstGeom prst="rect">
                <a:avLst/>
              </a:prstGeom>
            </p:spPr>
            <p:txBody>
              <a:bodyPr anchor="ctr" rtlCol="false" tIns="32470" lIns="32470" bIns="32470" rIns="32470"/>
              <a:lstStyle/>
              <a:p>
                <a:pPr algn="just">
                  <a:lnSpc>
                    <a:spcPts val="364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285748" y="502425"/>
              <a:ext cx="9586868" cy="1952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39"/>
                </a:lnSpc>
                <a:spcBef>
                  <a:spcPct val="0"/>
                </a:spcBef>
              </a:pPr>
              <a:r>
                <a:rPr lang="en-US" sz="28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</a:t>
              </a:r>
              <a:r>
                <a:rPr lang="en-US" sz="28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 5G Small Cell, Information </a:t>
              </a:r>
              <a:r>
                <a:rPr lang="en-US" sz="28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</a:t>
              </a:r>
              <a:r>
                <a:rPr lang="en-US" sz="28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eo</a:t>
              </a:r>
              <a:r>
                <a:rPr lang="en-US" sz="28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ry</a:t>
              </a:r>
              <a:r>
                <a:rPr lang="en-US" sz="28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is u</a:t>
              </a:r>
              <a:r>
                <a:rPr lang="en-US" sz="28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</a:t>
              </a:r>
              <a:r>
                <a:rPr lang="en-US" sz="28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ed to evaluate the </a:t>
              </a:r>
              <a:r>
                <a:rPr lang="en-US" sz="28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capacity</a:t>
              </a:r>
              <a:r>
                <a:rPr lang="en-US" sz="28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28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impr</a:t>
              </a:r>
              <a:r>
                <a:rPr lang="en-US" sz="28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ove</a:t>
              </a:r>
              <a:r>
                <a:rPr lang="en-US" sz="28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men</a:t>
              </a:r>
              <a:r>
                <a:rPr lang="en-US" sz="28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 </a:t>
              </a:r>
              <a:r>
                <a:rPr lang="en-US" sz="28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w</a:t>
              </a:r>
              <a:r>
                <a:rPr lang="en-US" sz="28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it</a:t>
              </a:r>
              <a:r>
                <a:rPr lang="en-US" sz="28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h</a:t>
              </a:r>
              <a:r>
                <a:rPr lang="en-US" sz="28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i</a:t>
              </a:r>
              <a:r>
                <a:rPr lang="en-US" sz="28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nc</a:t>
              </a:r>
              <a:r>
                <a:rPr lang="en-US" sz="28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reased channe</a:t>
              </a:r>
              <a:r>
                <a:rPr lang="en-US" sz="28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</a:t>
              </a:r>
              <a:r>
                <a:rPr lang="en-US" sz="28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quali</a:t>
              </a:r>
              <a:r>
                <a:rPr lang="en-US" sz="28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ty</a:t>
              </a:r>
              <a:r>
                <a:rPr lang="en-US" sz="281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11358" y="5258654"/>
            <a:ext cx="5311096" cy="1419024"/>
            <a:chOff x="0" y="0"/>
            <a:chExt cx="1398807" cy="3737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98807" cy="373735"/>
            </a:xfrm>
            <a:custGeom>
              <a:avLst/>
              <a:gdLst/>
              <a:ahLst/>
              <a:cxnLst/>
              <a:rect r="r" b="b" t="t" l="l"/>
              <a:pathLst>
                <a:path h="373735" w="1398807">
                  <a:moveTo>
                    <a:pt x="74342" y="0"/>
                  </a:moveTo>
                  <a:lnTo>
                    <a:pt x="1324465" y="0"/>
                  </a:lnTo>
                  <a:cubicBezTo>
                    <a:pt x="1344182" y="0"/>
                    <a:pt x="1363091" y="7832"/>
                    <a:pt x="1377033" y="21774"/>
                  </a:cubicBezTo>
                  <a:cubicBezTo>
                    <a:pt x="1390975" y="35716"/>
                    <a:pt x="1398807" y="54625"/>
                    <a:pt x="1398807" y="74342"/>
                  </a:cubicBezTo>
                  <a:lnTo>
                    <a:pt x="1398807" y="299393"/>
                  </a:lnTo>
                  <a:cubicBezTo>
                    <a:pt x="1398807" y="319110"/>
                    <a:pt x="1390975" y="338019"/>
                    <a:pt x="1377033" y="351961"/>
                  </a:cubicBezTo>
                  <a:cubicBezTo>
                    <a:pt x="1363091" y="365902"/>
                    <a:pt x="1344182" y="373735"/>
                    <a:pt x="1324465" y="373735"/>
                  </a:cubicBezTo>
                  <a:lnTo>
                    <a:pt x="74342" y="373735"/>
                  </a:lnTo>
                  <a:cubicBezTo>
                    <a:pt x="54625" y="373735"/>
                    <a:pt x="35716" y="365902"/>
                    <a:pt x="21774" y="351961"/>
                  </a:cubicBezTo>
                  <a:cubicBezTo>
                    <a:pt x="7832" y="338019"/>
                    <a:pt x="0" y="319110"/>
                    <a:pt x="0" y="299393"/>
                  </a:cubicBezTo>
                  <a:lnTo>
                    <a:pt x="0" y="74342"/>
                  </a:lnTo>
                  <a:cubicBezTo>
                    <a:pt x="0" y="54625"/>
                    <a:pt x="7832" y="35716"/>
                    <a:pt x="21774" y="21774"/>
                  </a:cubicBezTo>
                  <a:cubicBezTo>
                    <a:pt x="35716" y="7832"/>
                    <a:pt x="54625" y="0"/>
                    <a:pt x="74342" y="0"/>
                  </a:cubicBezTo>
                  <a:close/>
                </a:path>
              </a:pathLst>
            </a:custGeom>
            <a:solidFill>
              <a:srgbClr val="BAE8E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398807" cy="440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711358" y="5420460"/>
            <a:ext cx="5311096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The Signal - to - Noise Ratio </a:t>
            </a:r>
            <a:r>
              <a:rPr lang="en-US" sz="28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(SNR)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277310" y="5258654"/>
            <a:ext cx="5311096" cy="1419024"/>
            <a:chOff x="0" y="0"/>
            <a:chExt cx="1398807" cy="3737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98807" cy="373735"/>
            </a:xfrm>
            <a:custGeom>
              <a:avLst/>
              <a:gdLst/>
              <a:ahLst/>
              <a:cxnLst/>
              <a:rect r="r" b="b" t="t" l="l"/>
              <a:pathLst>
                <a:path h="373735" w="1398807">
                  <a:moveTo>
                    <a:pt x="74342" y="0"/>
                  </a:moveTo>
                  <a:lnTo>
                    <a:pt x="1324465" y="0"/>
                  </a:lnTo>
                  <a:cubicBezTo>
                    <a:pt x="1344182" y="0"/>
                    <a:pt x="1363091" y="7832"/>
                    <a:pt x="1377033" y="21774"/>
                  </a:cubicBezTo>
                  <a:cubicBezTo>
                    <a:pt x="1390975" y="35716"/>
                    <a:pt x="1398807" y="54625"/>
                    <a:pt x="1398807" y="74342"/>
                  </a:cubicBezTo>
                  <a:lnTo>
                    <a:pt x="1398807" y="299393"/>
                  </a:lnTo>
                  <a:cubicBezTo>
                    <a:pt x="1398807" y="319110"/>
                    <a:pt x="1390975" y="338019"/>
                    <a:pt x="1377033" y="351961"/>
                  </a:cubicBezTo>
                  <a:cubicBezTo>
                    <a:pt x="1363091" y="365902"/>
                    <a:pt x="1344182" y="373735"/>
                    <a:pt x="1324465" y="373735"/>
                  </a:cubicBezTo>
                  <a:lnTo>
                    <a:pt x="74342" y="373735"/>
                  </a:lnTo>
                  <a:cubicBezTo>
                    <a:pt x="54625" y="373735"/>
                    <a:pt x="35716" y="365902"/>
                    <a:pt x="21774" y="351961"/>
                  </a:cubicBezTo>
                  <a:cubicBezTo>
                    <a:pt x="7832" y="338019"/>
                    <a:pt x="0" y="319110"/>
                    <a:pt x="0" y="299393"/>
                  </a:cubicBezTo>
                  <a:lnTo>
                    <a:pt x="0" y="74342"/>
                  </a:lnTo>
                  <a:cubicBezTo>
                    <a:pt x="0" y="54625"/>
                    <a:pt x="7832" y="35716"/>
                    <a:pt x="21774" y="21774"/>
                  </a:cubicBezTo>
                  <a:cubicBezTo>
                    <a:pt x="35716" y="7832"/>
                    <a:pt x="54625" y="0"/>
                    <a:pt x="74342" y="0"/>
                  </a:cubicBezTo>
                  <a:close/>
                </a:path>
              </a:pathLst>
            </a:custGeom>
            <a:solidFill>
              <a:srgbClr val="BAE8E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398807" cy="440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Channel capacity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11358" y="7020579"/>
            <a:ext cx="5311096" cy="2431550"/>
            <a:chOff x="0" y="0"/>
            <a:chExt cx="7081462" cy="3242066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7081462" cy="2983629"/>
              <a:chOff x="0" y="0"/>
              <a:chExt cx="1810779" cy="762935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810779" cy="762935"/>
              </a:xfrm>
              <a:custGeom>
                <a:avLst/>
                <a:gdLst/>
                <a:ahLst/>
                <a:cxnLst/>
                <a:rect r="r" b="b" t="t" l="l"/>
                <a:pathLst>
                  <a:path h="762935" w="1810779">
                    <a:moveTo>
                      <a:pt x="74342" y="0"/>
                    </a:moveTo>
                    <a:lnTo>
                      <a:pt x="1736437" y="0"/>
                    </a:lnTo>
                    <a:cubicBezTo>
                      <a:pt x="1756154" y="0"/>
                      <a:pt x="1775063" y="7832"/>
                      <a:pt x="1789005" y="21774"/>
                    </a:cubicBezTo>
                    <a:cubicBezTo>
                      <a:pt x="1802947" y="35716"/>
                      <a:pt x="1810779" y="54625"/>
                      <a:pt x="1810779" y="74342"/>
                    </a:cubicBezTo>
                    <a:lnTo>
                      <a:pt x="1810779" y="688593"/>
                    </a:lnTo>
                    <a:cubicBezTo>
                      <a:pt x="1810779" y="729651"/>
                      <a:pt x="1777495" y="762935"/>
                      <a:pt x="1736437" y="762935"/>
                    </a:cubicBezTo>
                    <a:lnTo>
                      <a:pt x="74342" y="762935"/>
                    </a:lnTo>
                    <a:cubicBezTo>
                      <a:pt x="54625" y="762935"/>
                      <a:pt x="35716" y="755102"/>
                      <a:pt x="21774" y="741160"/>
                    </a:cubicBezTo>
                    <a:cubicBezTo>
                      <a:pt x="7832" y="727218"/>
                      <a:pt x="0" y="708309"/>
                      <a:pt x="0" y="688593"/>
                    </a:cubicBezTo>
                    <a:lnTo>
                      <a:pt x="0" y="74342"/>
                    </a:lnTo>
                    <a:cubicBezTo>
                      <a:pt x="0" y="54625"/>
                      <a:pt x="7832" y="35716"/>
                      <a:pt x="21774" y="21774"/>
                    </a:cubicBezTo>
                    <a:cubicBezTo>
                      <a:pt x="35716" y="7832"/>
                      <a:pt x="54625" y="0"/>
                      <a:pt x="74342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66675"/>
                <a:ext cx="1810779" cy="829610"/>
              </a:xfrm>
              <a:prstGeom prst="rect">
                <a:avLst/>
              </a:prstGeom>
            </p:spPr>
            <p:txBody>
              <a:bodyPr anchor="ctr" rtlCol="false" tIns="52085" lIns="52085" bIns="52085" rIns="52085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213117" y="228600"/>
              <a:ext cx="6655228" cy="30134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2"/>
                </a:lnSpc>
              </a:pPr>
              <a:r>
                <a:rPr lang="en-US" sz="3394" b="true">
                  <a:solidFill>
                    <a:srgbClr val="273A45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SNR = S/N</a:t>
              </a:r>
            </a:p>
            <a:p>
              <a:pPr algn="ctr">
                <a:lnSpc>
                  <a:spcPts val="3352"/>
                </a:lnSpc>
              </a:pPr>
            </a:p>
            <a:p>
              <a:pPr algn="ctr">
                <a:lnSpc>
                  <a:spcPts val="3352"/>
                </a:lnSpc>
              </a:pPr>
              <a:r>
                <a:rPr lang="en-US" sz="2394">
                  <a:solidFill>
                    <a:srgbClr val="273A45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 - Useful signal power (W or dBm)</a:t>
              </a:r>
            </a:p>
            <a:p>
              <a:pPr algn="ctr">
                <a:lnSpc>
                  <a:spcPts val="3352"/>
                </a:lnSpc>
              </a:pPr>
              <a:r>
                <a:rPr lang="en-US" sz="2394">
                  <a:solidFill>
                    <a:srgbClr val="273A45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N - Noise Power (W or dBm)</a:t>
              </a:r>
            </a:p>
            <a:p>
              <a:pPr algn="ctr">
                <a:lnSpc>
                  <a:spcPts val="3352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277310" y="7020579"/>
            <a:ext cx="5311096" cy="2808387"/>
            <a:chOff x="0" y="0"/>
            <a:chExt cx="7081462" cy="3744516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7081462" cy="2983629"/>
              <a:chOff x="0" y="0"/>
              <a:chExt cx="1810779" cy="762935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810779" cy="762935"/>
              </a:xfrm>
              <a:custGeom>
                <a:avLst/>
                <a:gdLst/>
                <a:ahLst/>
                <a:cxnLst/>
                <a:rect r="r" b="b" t="t" l="l"/>
                <a:pathLst>
                  <a:path h="762935" w="1810779">
                    <a:moveTo>
                      <a:pt x="74342" y="0"/>
                    </a:moveTo>
                    <a:lnTo>
                      <a:pt x="1736437" y="0"/>
                    </a:lnTo>
                    <a:cubicBezTo>
                      <a:pt x="1756154" y="0"/>
                      <a:pt x="1775063" y="7832"/>
                      <a:pt x="1789005" y="21774"/>
                    </a:cubicBezTo>
                    <a:cubicBezTo>
                      <a:pt x="1802947" y="35716"/>
                      <a:pt x="1810779" y="54625"/>
                      <a:pt x="1810779" y="74342"/>
                    </a:cubicBezTo>
                    <a:lnTo>
                      <a:pt x="1810779" y="688593"/>
                    </a:lnTo>
                    <a:cubicBezTo>
                      <a:pt x="1810779" y="729651"/>
                      <a:pt x="1777495" y="762935"/>
                      <a:pt x="1736437" y="762935"/>
                    </a:cubicBezTo>
                    <a:lnTo>
                      <a:pt x="74342" y="762935"/>
                    </a:lnTo>
                    <a:cubicBezTo>
                      <a:pt x="54625" y="762935"/>
                      <a:pt x="35716" y="755102"/>
                      <a:pt x="21774" y="741160"/>
                    </a:cubicBezTo>
                    <a:cubicBezTo>
                      <a:pt x="7832" y="727218"/>
                      <a:pt x="0" y="708309"/>
                      <a:pt x="0" y="688593"/>
                    </a:cubicBezTo>
                    <a:lnTo>
                      <a:pt x="0" y="74342"/>
                    </a:lnTo>
                    <a:cubicBezTo>
                      <a:pt x="0" y="54625"/>
                      <a:pt x="7832" y="35716"/>
                      <a:pt x="21774" y="21774"/>
                    </a:cubicBezTo>
                    <a:cubicBezTo>
                      <a:pt x="35716" y="7832"/>
                      <a:pt x="54625" y="0"/>
                      <a:pt x="74342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66675"/>
                <a:ext cx="1810779" cy="829610"/>
              </a:xfrm>
              <a:prstGeom prst="rect">
                <a:avLst/>
              </a:prstGeom>
            </p:spPr>
            <p:txBody>
              <a:bodyPr anchor="ctr" rtlCol="false" tIns="52085" lIns="52085" bIns="52085" rIns="52085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213117" y="172250"/>
              <a:ext cx="6655228" cy="35722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2"/>
                </a:lnSpc>
              </a:pPr>
              <a:r>
                <a:rPr lang="en-US" sz="3394" b="true">
                  <a:solidFill>
                    <a:srgbClr val="273A45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C = B x log2(1 + SNR)</a:t>
              </a:r>
            </a:p>
            <a:p>
              <a:pPr algn="ctr">
                <a:lnSpc>
                  <a:spcPts val="3352"/>
                </a:lnSpc>
              </a:pPr>
            </a:p>
            <a:p>
              <a:pPr algn="ctr">
                <a:lnSpc>
                  <a:spcPts val="3352"/>
                </a:lnSpc>
              </a:pPr>
              <a:r>
                <a:rPr lang="en-US" sz="2394">
                  <a:solidFill>
                    <a:srgbClr val="273A45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 – Channel capacity (bps)</a:t>
              </a:r>
            </a:p>
            <a:p>
              <a:pPr algn="ctr">
                <a:lnSpc>
                  <a:spcPts val="3352"/>
                </a:lnSpc>
              </a:pPr>
              <a:r>
                <a:rPr lang="en-US" sz="2394">
                  <a:solidFill>
                    <a:srgbClr val="273A45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B – Bandwidth (Hz)</a:t>
              </a:r>
            </a:p>
            <a:p>
              <a:pPr algn="ctr">
                <a:lnSpc>
                  <a:spcPts val="3352"/>
                </a:lnSpc>
              </a:pPr>
            </a:p>
            <a:p>
              <a:pPr algn="ctr">
                <a:lnSpc>
                  <a:spcPts val="3352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4433" y="-2046607"/>
            <a:ext cx="19296866" cy="4574304"/>
            <a:chOff x="0" y="0"/>
            <a:chExt cx="25729155" cy="60990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72578" y="0"/>
              <a:ext cx="24384000" cy="4811609"/>
            </a:xfrm>
            <a:custGeom>
              <a:avLst/>
              <a:gdLst/>
              <a:ahLst/>
              <a:cxnLst/>
              <a:rect r="r" b="b" t="t" l="l"/>
              <a:pathLst>
                <a:path h="481160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11609"/>
                  </a:lnTo>
                  <a:lnTo>
                    <a:pt x="0" y="48116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84715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672578" y="2944142"/>
              <a:ext cx="24384000" cy="1475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099"/>
                </a:lnSpc>
              </a:pPr>
              <a:r>
                <a:rPr lang="en-US" b="true" sz="6999">
                  <a:solidFill>
                    <a:srgbClr val="FFFFFF"/>
                  </a:solidFill>
                  <a:latin typeface="K2D Bold"/>
                  <a:ea typeface="K2D Bold"/>
                  <a:cs typeface="K2D Bold"/>
                  <a:sym typeface="K2D Bold"/>
                </a:rPr>
                <a:t>PART 3. TECHNICAL COMPONENTS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4812014"/>
              <a:ext cx="25729155" cy="1287057"/>
              <a:chOff x="0" y="0"/>
              <a:chExt cx="5082302" cy="25423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082302" cy="254234"/>
              </a:xfrm>
              <a:custGeom>
                <a:avLst/>
                <a:gdLst/>
                <a:ahLst/>
                <a:cxnLst/>
                <a:rect r="r" b="b" t="t" l="l"/>
                <a:pathLst>
                  <a:path h="254234" w="5082302">
                    <a:moveTo>
                      <a:pt x="20461" y="0"/>
                    </a:moveTo>
                    <a:lnTo>
                      <a:pt x="5061841" y="0"/>
                    </a:lnTo>
                    <a:cubicBezTo>
                      <a:pt x="5073142" y="0"/>
                      <a:pt x="5082302" y="9161"/>
                      <a:pt x="5082302" y="20461"/>
                    </a:cubicBezTo>
                    <a:lnTo>
                      <a:pt x="5082302" y="233772"/>
                    </a:lnTo>
                    <a:cubicBezTo>
                      <a:pt x="5082302" y="245073"/>
                      <a:pt x="5073142" y="254234"/>
                      <a:pt x="5061841" y="254234"/>
                    </a:cubicBezTo>
                    <a:lnTo>
                      <a:pt x="20461" y="254234"/>
                    </a:lnTo>
                    <a:cubicBezTo>
                      <a:pt x="9161" y="254234"/>
                      <a:pt x="0" y="245073"/>
                      <a:pt x="0" y="233772"/>
                    </a:cubicBezTo>
                    <a:lnTo>
                      <a:pt x="0" y="20461"/>
                    </a:lnTo>
                    <a:cubicBezTo>
                      <a:pt x="0" y="9161"/>
                      <a:pt x="9161" y="0"/>
                      <a:pt x="20461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5082302" cy="3209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672578" y="4904151"/>
              <a:ext cx="24384000" cy="1055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00"/>
                </a:lnSpc>
              </a:pPr>
              <a:r>
                <a:rPr lang="en-US" b="true" sz="5000">
                  <a:solidFill>
                    <a:srgbClr val="153969"/>
                  </a:solidFill>
                  <a:latin typeface="K2D Bold"/>
                  <a:ea typeface="K2D Bold"/>
                  <a:cs typeface="K2D Bold"/>
                  <a:sym typeface="K2D Bold"/>
                </a:rPr>
                <a:t>3.4.  Block Codes – CRC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834621" y="2735416"/>
            <a:ext cx="6618757" cy="2806196"/>
            <a:chOff x="0" y="0"/>
            <a:chExt cx="8825010" cy="374159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8825010" cy="3741595"/>
              <a:chOff x="0" y="0"/>
              <a:chExt cx="3139319" cy="133099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139319" cy="1330997"/>
              </a:xfrm>
              <a:custGeom>
                <a:avLst/>
                <a:gdLst/>
                <a:ahLst/>
                <a:cxnLst/>
                <a:rect r="r" b="b" t="t" l="l"/>
                <a:pathLst>
                  <a:path h="1330997" w="3139319">
                    <a:moveTo>
                      <a:pt x="51824" y="0"/>
                    </a:moveTo>
                    <a:lnTo>
                      <a:pt x="3087494" y="0"/>
                    </a:lnTo>
                    <a:cubicBezTo>
                      <a:pt x="3116116" y="0"/>
                      <a:pt x="3139319" y="23203"/>
                      <a:pt x="3139319" y="51824"/>
                    </a:cubicBezTo>
                    <a:lnTo>
                      <a:pt x="3139319" y="1279172"/>
                    </a:lnTo>
                    <a:cubicBezTo>
                      <a:pt x="3139319" y="1307794"/>
                      <a:pt x="3116116" y="1330997"/>
                      <a:pt x="3087494" y="1330997"/>
                    </a:cubicBezTo>
                    <a:lnTo>
                      <a:pt x="51824" y="1330997"/>
                    </a:lnTo>
                    <a:cubicBezTo>
                      <a:pt x="23203" y="1330997"/>
                      <a:pt x="0" y="1307794"/>
                      <a:pt x="0" y="1279172"/>
                    </a:cubicBezTo>
                    <a:lnTo>
                      <a:pt x="0" y="51824"/>
                    </a:lnTo>
                    <a:cubicBezTo>
                      <a:pt x="0" y="23203"/>
                      <a:pt x="23203" y="0"/>
                      <a:pt x="51824" y="0"/>
                    </a:cubicBezTo>
                    <a:close/>
                  </a:path>
                </a:pathLst>
              </a:custGeom>
              <a:solidFill>
                <a:srgbClr val="2B5895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66675"/>
                <a:ext cx="3139319" cy="1397672"/>
              </a:xfrm>
              <a:prstGeom prst="rect">
                <a:avLst/>
              </a:prstGeom>
            </p:spPr>
            <p:txBody>
              <a:bodyPr anchor="ctr" rtlCol="false" tIns="32470" lIns="32470" bIns="32470" rIns="32470"/>
              <a:lstStyle/>
              <a:p>
                <a:pPr algn="just">
                  <a:lnSpc>
                    <a:spcPts val="364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248242" y="437252"/>
              <a:ext cx="8328526" cy="2842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22"/>
                </a:lnSpc>
                <a:spcBef>
                  <a:spcPct val="0"/>
                </a:spcBef>
              </a:pPr>
              <a:r>
                <a:rPr lang="en-US" sz="2444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+CRC</a:t>
              </a:r>
              <a:r>
                <a:rPr lang="en-US" sz="2444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appends c</a:t>
              </a:r>
              <a:r>
                <a:rPr lang="en-US" sz="2444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h</a:t>
              </a:r>
              <a:r>
                <a:rPr lang="en-US" sz="2444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eck bits to each d</a:t>
              </a:r>
              <a:r>
                <a:rPr lang="en-US" sz="2444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ata block to</a:t>
              </a:r>
              <a:r>
                <a:rPr lang="en-US" sz="2444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det</a:t>
              </a:r>
              <a:r>
                <a:rPr lang="en-US" sz="2444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ec</a:t>
              </a:r>
              <a:r>
                <a:rPr lang="en-US" sz="2444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 transmission errors</a:t>
              </a:r>
            </a:p>
            <a:p>
              <a:pPr algn="just">
                <a:lnSpc>
                  <a:spcPts val="3422"/>
                </a:lnSpc>
                <a:spcBef>
                  <a:spcPct val="0"/>
                </a:spcBef>
              </a:pPr>
              <a:r>
                <a:rPr lang="en-US" sz="2444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+Receiver checks the polynomial remainder; non-zero → error → retransmission needed.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11835" y="5645471"/>
            <a:ext cx="10264330" cy="1723903"/>
            <a:chOff x="0" y="0"/>
            <a:chExt cx="13685774" cy="2298537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3685774" cy="2298537"/>
              <a:chOff x="0" y="0"/>
              <a:chExt cx="3001975" cy="50418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001975" cy="504184"/>
              </a:xfrm>
              <a:custGeom>
                <a:avLst/>
                <a:gdLst/>
                <a:ahLst/>
                <a:cxnLst/>
                <a:rect r="r" b="b" t="t" l="l"/>
                <a:pathLst>
                  <a:path h="504184" w="3001975">
                    <a:moveTo>
                      <a:pt x="34641" y="0"/>
                    </a:moveTo>
                    <a:lnTo>
                      <a:pt x="2967335" y="0"/>
                    </a:lnTo>
                    <a:cubicBezTo>
                      <a:pt x="2976522" y="0"/>
                      <a:pt x="2985333" y="3650"/>
                      <a:pt x="2991829" y="10146"/>
                    </a:cubicBezTo>
                    <a:cubicBezTo>
                      <a:pt x="2998326" y="16642"/>
                      <a:pt x="3001975" y="25453"/>
                      <a:pt x="3001975" y="34641"/>
                    </a:cubicBezTo>
                    <a:lnTo>
                      <a:pt x="3001975" y="469544"/>
                    </a:lnTo>
                    <a:cubicBezTo>
                      <a:pt x="3001975" y="488675"/>
                      <a:pt x="2986466" y="504184"/>
                      <a:pt x="2967335" y="504184"/>
                    </a:cubicBezTo>
                    <a:lnTo>
                      <a:pt x="34641" y="504184"/>
                    </a:lnTo>
                    <a:cubicBezTo>
                      <a:pt x="25453" y="504184"/>
                      <a:pt x="16642" y="500535"/>
                      <a:pt x="10146" y="494038"/>
                    </a:cubicBezTo>
                    <a:cubicBezTo>
                      <a:pt x="3650" y="487542"/>
                      <a:pt x="0" y="478731"/>
                      <a:pt x="0" y="469544"/>
                    </a:cubicBezTo>
                    <a:lnTo>
                      <a:pt x="0" y="34641"/>
                    </a:lnTo>
                    <a:cubicBezTo>
                      <a:pt x="0" y="25453"/>
                      <a:pt x="3650" y="16642"/>
                      <a:pt x="10146" y="10146"/>
                    </a:cubicBezTo>
                    <a:cubicBezTo>
                      <a:pt x="16642" y="3650"/>
                      <a:pt x="25453" y="0"/>
                      <a:pt x="34641" y="0"/>
                    </a:cubicBezTo>
                    <a:close/>
                  </a:path>
                </a:pathLst>
              </a:custGeom>
              <a:solidFill>
                <a:srgbClr val="BAE8ED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66675"/>
                <a:ext cx="3001975" cy="5708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401905" y="233228"/>
              <a:ext cx="13084009" cy="17654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30"/>
                </a:lnSpc>
              </a:pPr>
              <a:r>
                <a:rPr lang="en-US" sz="2521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Indoor Small Cell environments have multipath, strong reflections, and movement → higher OFDM error probability</a:t>
              </a:r>
            </a:p>
            <a:p>
              <a:pPr algn="ctr">
                <a:lnSpc>
                  <a:spcPts val="3530"/>
                </a:lnSpc>
                <a:spcBef>
                  <a:spcPct val="0"/>
                </a:spcBef>
              </a:pPr>
              <a:r>
                <a:rPr lang="en-US" sz="2521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Small Cells use CRC for each transport block and HARQ: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753246" y="7821627"/>
            <a:ext cx="6162750" cy="696787"/>
            <a:chOff x="0" y="0"/>
            <a:chExt cx="8217000" cy="929049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8217000" cy="929049"/>
              <a:chOff x="0" y="0"/>
              <a:chExt cx="2768926" cy="313067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768926" cy="313067"/>
              </a:xfrm>
              <a:custGeom>
                <a:avLst/>
                <a:gdLst/>
                <a:ahLst/>
                <a:cxnLst/>
                <a:rect r="r" b="b" t="t" l="l"/>
                <a:pathLst>
                  <a:path h="313067" w="2768926">
                    <a:moveTo>
                      <a:pt x="64068" y="0"/>
                    </a:moveTo>
                    <a:lnTo>
                      <a:pt x="2704857" y="0"/>
                    </a:lnTo>
                    <a:cubicBezTo>
                      <a:pt x="2721849" y="0"/>
                      <a:pt x="2738145" y="6750"/>
                      <a:pt x="2750160" y="18765"/>
                    </a:cubicBezTo>
                    <a:cubicBezTo>
                      <a:pt x="2762176" y="30780"/>
                      <a:pt x="2768926" y="47076"/>
                      <a:pt x="2768926" y="64068"/>
                    </a:cubicBezTo>
                    <a:lnTo>
                      <a:pt x="2768926" y="248998"/>
                    </a:lnTo>
                    <a:cubicBezTo>
                      <a:pt x="2768926" y="284382"/>
                      <a:pt x="2740241" y="313067"/>
                      <a:pt x="2704857" y="313067"/>
                    </a:cubicBezTo>
                    <a:lnTo>
                      <a:pt x="64068" y="313067"/>
                    </a:lnTo>
                    <a:cubicBezTo>
                      <a:pt x="28684" y="313067"/>
                      <a:pt x="0" y="284382"/>
                      <a:pt x="0" y="248998"/>
                    </a:cubicBezTo>
                    <a:lnTo>
                      <a:pt x="0" y="64068"/>
                    </a:lnTo>
                    <a:cubicBezTo>
                      <a:pt x="0" y="47076"/>
                      <a:pt x="6750" y="30780"/>
                      <a:pt x="18765" y="18765"/>
                    </a:cubicBezTo>
                    <a:cubicBezTo>
                      <a:pt x="30780" y="6750"/>
                      <a:pt x="47076" y="0"/>
                      <a:pt x="64068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66675"/>
                <a:ext cx="2768926" cy="379742"/>
              </a:xfrm>
              <a:prstGeom prst="rect">
                <a:avLst/>
              </a:prstGeom>
            </p:spPr>
            <p:txBody>
              <a:bodyPr anchor="ctr" rtlCol="false" tIns="39524" lIns="39524" bIns="39524" rIns="39524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247291" y="174141"/>
              <a:ext cx="7722417" cy="5027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04"/>
                </a:lnSpc>
                <a:spcBef>
                  <a:spcPct val="0"/>
                </a:spcBef>
              </a:pPr>
              <a:r>
                <a:rPr lang="en-US" b="true" sz="2217">
                  <a:solidFill>
                    <a:srgbClr val="273A45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CRC fails → NACK → retransmit request.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372004" y="7821627"/>
            <a:ext cx="6162750" cy="696787"/>
            <a:chOff x="0" y="0"/>
            <a:chExt cx="8217000" cy="929049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8217000" cy="929049"/>
              <a:chOff x="0" y="0"/>
              <a:chExt cx="2768926" cy="31306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768926" cy="313067"/>
              </a:xfrm>
              <a:custGeom>
                <a:avLst/>
                <a:gdLst/>
                <a:ahLst/>
                <a:cxnLst/>
                <a:rect r="r" b="b" t="t" l="l"/>
                <a:pathLst>
                  <a:path h="313067" w="2768926">
                    <a:moveTo>
                      <a:pt x="64068" y="0"/>
                    </a:moveTo>
                    <a:lnTo>
                      <a:pt x="2704857" y="0"/>
                    </a:lnTo>
                    <a:cubicBezTo>
                      <a:pt x="2721849" y="0"/>
                      <a:pt x="2738145" y="6750"/>
                      <a:pt x="2750160" y="18765"/>
                    </a:cubicBezTo>
                    <a:cubicBezTo>
                      <a:pt x="2762176" y="30780"/>
                      <a:pt x="2768926" y="47076"/>
                      <a:pt x="2768926" y="64068"/>
                    </a:cubicBezTo>
                    <a:lnTo>
                      <a:pt x="2768926" y="248998"/>
                    </a:lnTo>
                    <a:cubicBezTo>
                      <a:pt x="2768926" y="284382"/>
                      <a:pt x="2740241" y="313067"/>
                      <a:pt x="2704857" y="313067"/>
                    </a:cubicBezTo>
                    <a:lnTo>
                      <a:pt x="64068" y="313067"/>
                    </a:lnTo>
                    <a:cubicBezTo>
                      <a:pt x="28684" y="313067"/>
                      <a:pt x="0" y="284382"/>
                      <a:pt x="0" y="248998"/>
                    </a:cubicBezTo>
                    <a:lnTo>
                      <a:pt x="0" y="64068"/>
                    </a:lnTo>
                    <a:cubicBezTo>
                      <a:pt x="0" y="47076"/>
                      <a:pt x="6750" y="30780"/>
                      <a:pt x="18765" y="18765"/>
                    </a:cubicBezTo>
                    <a:cubicBezTo>
                      <a:pt x="30780" y="6750"/>
                      <a:pt x="47076" y="0"/>
                      <a:pt x="64068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66675"/>
                <a:ext cx="2768926" cy="379742"/>
              </a:xfrm>
              <a:prstGeom prst="rect">
                <a:avLst/>
              </a:prstGeom>
            </p:spPr>
            <p:txBody>
              <a:bodyPr anchor="ctr" rtlCol="false" tIns="39524" lIns="39524" bIns="39524" rIns="39524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247291" y="174141"/>
              <a:ext cx="7722417" cy="5027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04"/>
                </a:lnSpc>
                <a:spcBef>
                  <a:spcPct val="0"/>
                </a:spcBef>
              </a:pPr>
              <a:r>
                <a:rPr lang="en-US" b="true" sz="2217">
                  <a:solidFill>
                    <a:srgbClr val="273A45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CRC passes → ACK → packet accepted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208963" y="8736168"/>
            <a:ext cx="5870073" cy="1044265"/>
            <a:chOff x="0" y="0"/>
            <a:chExt cx="3139319" cy="55847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139319" cy="558473"/>
            </a:xfrm>
            <a:custGeom>
              <a:avLst/>
              <a:gdLst/>
              <a:ahLst/>
              <a:cxnLst/>
              <a:rect r="r" b="b" t="t" l="l"/>
              <a:pathLst>
                <a:path h="558473" w="3139319">
                  <a:moveTo>
                    <a:pt x="67263" y="0"/>
                  </a:moveTo>
                  <a:lnTo>
                    <a:pt x="3072056" y="0"/>
                  </a:lnTo>
                  <a:cubicBezTo>
                    <a:pt x="3089895" y="0"/>
                    <a:pt x="3107004" y="7087"/>
                    <a:pt x="3119618" y="19701"/>
                  </a:cubicBezTo>
                  <a:cubicBezTo>
                    <a:pt x="3132232" y="32315"/>
                    <a:pt x="3139319" y="49424"/>
                    <a:pt x="3139319" y="67263"/>
                  </a:cubicBezTo>
                  <a:lnTo>
                    <a:pt x="3139319" y="491210"/>
                  </a:lnTo>
                  <a:cubicBezTo>
                    <a:pt x="3139319" y="509050"/>
                    <a:pt x="3132232" y="526158"/>
                    <a:pt x="3119618" y="538772"/>
                  </a:cubicBezTo>
                  <a:cubicBezTo>
                    <a:pt x="3107004" y="551387"/>
                    <a:pt x="3089895" y="558473"/>
                    <a:pt x="3072056" y="558473"/>
                  </a:cubicBezTo>
                  <a:lnTo>
                    <a:pt x="67263" y="558473"/>
                  </a:lnTo>
                  <a:cubicBezTo>
                    <a:pt x="49424" y="558473"/>
                    <a:pt x="32315" y="551387"/>
                    <a:pt x="19701" y="538772"/>
                  </a:cubicBezTo>
                  <a:cubicBezTo>
                    <a:pt x="7087" y="526158"/>
                    <a:pt x="0" y="509050"/>
                    <a:pt x="0" y="491210"/>
                  </a:cubicBezTo>
                  <a:lnTo>
                    <a:pt x="0" y="67263"/>
                  </a:lnTo>
                  <a:cubicBezTo>
                    <a:pt x="0" y="49424"/>
                    <a:pt x="7087" y="32315"/>
                    <a:pt x="19701" y="19701"/>
                  </a:cubicBezTo>
                  <a:cubicBezTo>
                    <a:pt x="32315" y="7087"/>
                    <a:pt x="49424" y="0"/>
                    <a:pt x="67263" y="0"/>
                  </a:cubicBezTo>
                  <a:close/>
                </a:path>
              </a:pathLst>
            </a:custGeom>
            <a:solidFill>
              <a:srgbClr val="2B5895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3139319" cy="625148"/>
            </a:xfrm>
            <a:prstGeom prst="rect">
              <a:avLst/>
            </a:prstGeom>
          </p:spPr>
          <p:txBody>
            <a:bodyPr anchor="ctr" rtlCol="false" tIns="25018" lIns="25018" bIns="25018" rIns="25018"/>
            <a:lstStyle/>
            <a:p>
              <a:pPr algn="just">
                <a:lnSpc>
                  <a:spcPts val="3640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3944572" y="8664116"/>
            <a:ext cx="1890049" cy="1188368"/>
          </a:xfrm>
          <a:custGeom>
            <a:avLst/>
            <a:gdLst/>
            <a:ahLst/>
            <a:cxnLst/>
            <a:rect r="r" b="b" t="t" l="l"/>
            <a:pathLst>
              <a:path h="1188368" w="1890049">
                <a:moveTo>
                  <a:pt x="0" y="0"/>
                </a:moveTo>
                <a:lnTo>
                  <a:pt x="1890049" y="0"/>
                </a:lnTo>
                <a:lnTo>
                  <a:pt x="1890049" y="1188368"/>
                </a:lnTo>
                <a:lnTo>
                  <a:pt x="0" y="1188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6374085" y="8908939"/>
            <a:ext cx="5539831" cy="1145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5"/>
              </a:lnSpc>
              <a:spcBef>
                <a:spcPct val="0"/>
              </a:spcBef>
            </a:pPr>
            <a:r>
              <a:rPr lang="en-US" sz="216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CRC</a:t>
            </a:r>
            <a:r>
              <a:rPr lang="en-US" sz="216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+ HARQ ensure </a:t>
            </a:r>
            <a:r>
              <a:rPr lang="en-US" sz="216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h</a:t>
            </a:r>
            <a:r>
              <a:rPr lang="en-US" sz="216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igh reli</a:t>
            </a:r>
            <a:r>
              <a:rPr lang="en-US" sz="216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ability</a:t>
            </a:r>
            <a:r>
              <a:rPr lang="en-US" sz="216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ev</a:t>
            </a:r>
            <a:r>
              <a:rPr lang="en-US" sz="216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en</a:t>
            </a:r>
            <a:r>
              <a:rPr lang="en-US" sz="216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in crowded environments.</a:t>
            </a:r>
          </a:p>
          <a:p>
            <a:pPr algn="just">
              <a:lnSpc>
                <a:spcPts val="303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4433" y="-2046607"/>
            <a:ext cx="19296866" cy="4574304"/>
            <a:chOff x="0" y="0"/>
            <a:chExt cx="25729155" cy="60990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72578" y="0"/>
              <a:ext cx="24384000" cy="4811609"/>
            </a:xfrm>
            <a:custGeom>
              <a:avLst/>
              <a:gdLst/>
              <a:ahLst/>
              <a:cxnLst/>
              <a:rect r="r" b="b" t="t" l="l"/>
              <a:pathLst>
                <a:path h="481160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11609"/>
                  </a:lnTo>
                  <a:lnTo>
                    <a:pt x="0" y="48116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84715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672578" y="2944142"/>
              <a:ext cx="24384000" cy="1475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099"/>
                </a:lnSpc>
              </a:pPr>
              <a:r>
                <a:rPr lang="en-US" b="true" sz="6999">
                  <a:solidFill>
                    <a:srgbClr val="FFFFFF"/>
                  </a:solidFill>
                  <a:latin typeface="K2D Bold"/>
                  <a:ea typeface="K2D Bold"/>
                  <a:cs typeface="K2D Bold"/>
                  <a:sym typeface="K2D Bold"/>
                </a:rPr>
                <a:t>PART 3. TECHNICAL COMPONENTS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4812014"/>
              <a:ext cx="25729155" cy="1287057"/>
              <a:chOff x="0" y="0"/>
              <a:chExt cx="5082302" cy="25423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082302" cy="254234"/>
              </a:xfrm>
              <a:custGeom>
                <a:avLst/>
                <a:gdLst/>
                <a:ahLst/>
                <a:cxnLst/>
                <a:rect r="r" b="b" t="t" l="l"/>
                <a:pathLst>
                  <a:path h="254234" w="5082302">
                    <a:moveTo>
                      <a:pt x="20461" y="0"/>
                    </a:moveTo>
                    <a:lnTo>
                      <a:pt x="5061841" y="0"/>
                    </a:lnTo>
                    <a:cubicBezTo>
                      <a:pt x="5073142" y="0"/>
                      <a:pt x="5082302" y="9161"/>
                      <a:pt x="5082302" y="20461"/>
                    </a:cubicBezTo>
                    <a:lnTo>
                      <a:pt x="5082302" y="233772"/>
                    </a:lnTo>
                    <a:cubicBezTo>
                      <a:pt x="5082302" y="245073"/>
                      <a:pt x="5073142" y="254234"/>
                      <a:pt x="5061841" y="254234"/>
                    </a:cubicBezTo>
                    <a:lnTo>
                      <a:pt x="20461" y="254234"/>
                    </a:lnTo>
                    <a:cubicBezTo>
                      <a:pt x="9161" y="254234"/>
                      <a:pt x="0" y="245073"/>
                      <a:pt x="0" y="233772"/>
                    </a:cubicBezTo>
                    <a:lnTo>
                      <a:pt x="0" y="20461"/>
                    </a:lnTo>
                    <a:cubicBezTo>
                      <a:pt x="0" y="9161"/>
                      <a:pt x="9161" y="0"/>
                      <a:pt x="20461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5082302" cy="3209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672578" y="4904151"/>
              <a:ext cx="24384000" cy="1055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00"/>
                </a:lnSpc>
              </a:pPr>
              <a:r>
                <a:rPr lang="en-US" b="true" sz="5000">
                  <a:solidFill>
                    <a:srgbClr val="153969"/>
                  </a:solidFill>
                  <a:latin typeface="K2D Bold"/>
                  <a:ea typeface="K2D Bold"/>
                  <a:cs typeface="K2D Bold"/>
                  <a:sym typeface="K2D Bold"/>
                </a:rPr>
                <a:t>3.5. Channel Coding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201296" y="2527697"/>
            <a:ext cx="14341416" cy="1512003"/>
            <a:chOff x="0" y="0"/>
            <a:chExt cx="19121887" cy="201600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9121887" cy="2016005"/>
              <a:chOff x="0" y="0"/>
              <a:chExt cx="6802224" cy="71715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802224" cy="717153"/>
              </a:xfrm>
              <a:custGeom>
                <a:avLst/>
                <a:gdLst/>
                <a:ahLst/>
                <a:cxnLst/>
                <a:rect r="r" b="b" t="t" l="l"/>
                <a:pathLst>
                  <a:path h="717153" w="6802224">
                    <a:moveTo>
                      <a:pt x="23918" y="0"/>
                    </a:moveTo>
                    <a:lnTo>
                      <a:pt x="6778306" y="0"/>
                    </a:lnTo>
                    <a:cubicBezTo>
                      <a:pt x="6784650" y="0"/>
                      <a:pt x="6790734" y="2520"/>
                      <a:pt x="6795219" y="7005"/>
                    </a:cubicBezTo>
                    <a:cubicBezTo>
                      <a:pt x="6799704" y="11491"/>
                      <a:pt x="6802224" y="17574"/>
                      <a:pt x="6802224" y="23918"/>
                    </a:cubicBezTo>
                    <a:lnTo>
                      <a:pt x="6802224" y="693235"/>
                    </a:lnTo>
                    <a:cubicBezTo>
                      <a:pt x="6802224" y="699579"/>
                      <a:pt x="6799704" y="705662"/>
                      <a:pt x="6795219" y="710148"/>
                    </a:cubicBezTo>
                    <a:cubicBezTo>
                      <a:pt x="6790734" y="714633"/>
                      <a:pt x="6784650" y="717153"/>
                      <a:pt x="6778306" y="717153"/>
                    </a:cubicBezTo>
                    <a:lnTo>
                      <a:pt x="23918" y="717153"/>
                    </a:lnTo>
                    <a:cubicBezTo>
                      <a:pt x="17574" y="717153"/>
                      <a:pt x="11491" y="714633"/>
                      <a:pt x="7005" y="710148"/>
                    </a:cubicBezTo>
                    <a:cubicBezTo>
                      <a:pt x="2520" y="705662"/>
                      <a:pt x="0" y="699579"/>
                      <a:pt x="0" y="693235"/>
                    </a:cubicBezTo>
                    <a:lnTo>
                      <a:pt x="0" y="23918"/>
                    </a:lnTo>
                    <a:cubicBezTo>
                      <a:pt x="0" y="17574"/>
                      <a:pt x="2520" y="11491"/>
                      <a:pt x="7005" y="7005"/>
                    </a:cubicBezTo>
                    <a:cubicBezTo>
                      <a:pt x="11491" y="2520"/>
                      <a:pt x="17574" y="0"/>
                      <a:pt x="23918" y="0"/>
                    </a:cubicBezTo>
                    <a:close/>
                  </a:path>
                </a:pathLst>
              </a:custGeom>
              <a:solidFill>
                <a:srgbClr val="2B5895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66675"/>
                <a:ext cx="6802224" cy="783828"/>
              </a:xfrm>
              <a:prstGeom prst="rect">
                <a:avLst/>
              </a:prstGeom>
            </p:spPr>
            <p:txBody>
              <a:bodyPr anchor="ctr" rtlCol="false" tIns="32470" lIns="32470" bIns="32470" rIns="32470"/>
              <a:lstStyle/>
              <a:p>
                <a:pPr algn="just">
                  <a:lnSpc>
                    <a:spcPts val="3640"/>
                  </a:lnSpc>
                </a:pPr>
              </a:p>
              <a:p>
                <a:pPr algn="just">
                  <a:lnSpc>
                    <a:spcPts val="364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537886" y="437252"/>
              <a:ext cx="18046116" cy="1117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22"/>
                </a:lnSpc>
                <a:spcBef>
                  <a:spcPct val="0"/>
                </a:spcBef>
              </a:pPr>
              <a:r>
                <a:rPr lang="en-US" sz="2444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Sm</a:t>
              </a:r>
              <a:r>
                <a:rPr lang="en-US" sz="2444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all Cell ind</a:t>
              </a:r>
              <a:r>
                <a:rPr lang="en-US" sz="2444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oor</a:t>
              </a:r>
              <a:r>
                <a:rPr lang="en-US" sz="2444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signals suffer attenuation &amp; multipath → strong channel coding is required.</a:t>
              </a:r>
            </a:p>
            <a:p>
              <a:pPr algn="just">
                <a:lnSpc>
                  <a:spcPts val="3422"/>
                </a:lnSpc>
                <a:spcBef>
                  <a:spcPct val="0"/>
                </a:spcBef>
              </a:pPr>
              <a:r>
                <a:rPr lang="en-US" b="true" sz="2444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5G uses two techniques</a:t>
              </a:r>
              <a:r>
                <a:rPr lang="en-US" sz="2444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: LDPC for data and Polar Code for control.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201296" y="4279083"/>
            <a:ext cx="5999270" cy="1728833"/>
            <a:chOff x="0" y="0"/>
            <a:chExt cx="7999026" cy="2305111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7999026" cy="2305111"/>
              <a:chOff x="0" y="0"/>
              <a:chExt cx="1754587" cy="50562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754587" cy="505626"/>
              </a:xfrm>
              <a:custGeom>
                <a:avLst/>
                <a:gdLst/>
                <a:ahLst/>
                <a:cxnLst/>
                <a:rect r="r" b="b" t="t" l="l"/>
                <a:pathLst>
                  <a:path h="505626" w="1754587">
                    <a:moveTo>
                      <a:pt x="59268" y="0"/>
                    </a:moveTo>
                    <a:lnTo>
                      <a:pt x="1695319" y="0"/>
                    </a:lnTo>
                    <a:cubicBezTo>
                      <a:pt x="1728052" y="0"/>
                      <a:pt x="1754587" y="26535"/>
                      <a:pt x="1754587" y="59268"/>
                    </a:cubicBezTo>
                    <a:lnTo>
                      <a:pt x="1754587" y="446359"/>
                    </a:lnTo>
                    <a:cubicBezTo>
                      <a:pt x="1754587" y="479091"/>
                      <a:pt x="1728052" y="505626"/>
                      <a:pt x="1695319" y="505626"/>
                    </a:cubicBezTo>
                    <a:lnTo>
                      <a:pt x="59268" y="505626"/>
                    </a:lnTo>
                    <a:cubicBezTo>
                      <a:pt x="26535" y="505626"/>
                      <a:pt x="0" y="479091"/>
                      <a:pt x="0" y="446359"/>
                    </a:cubicBezTo>
                    <a:lnTo>
                      <a:pt x="0" y="59268"/>
                    </a:lnTo>
                    <a:cubicBezTo>
                      <a:pt x="0" y="26535"/>
                      <a:pt x="26535" y="0"/>
                      <a:pt x="59268" y="0"/>
                    </a:cubicBezTo>
                    <a:close/>
                  </a:path>
                </a:pathLst>
              </a:custGeom>
              <a:solidFill>
                <a:srgbClr val="BAE8ED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66675"/>
                <a:ext cx="1754587" cy="5723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234904" y="233228"/>
              <a:ext cx="7647308" cy="17719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30"/>
                </a:lnSpc>
                <a:spcBef>
                  <a:spcPct val="0"/>
                </a:spcBef>
              </a:pPr>
              <a:r>
                <a:rPr lang="en-US" b="true" sz="252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LDPC:</a:t>
              </a:r>
              <a:r>
                <a:rPr lang="en-US" sz="2521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Block code using many parity equations from 5G matrices → corrects errors via violated parities.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290629" y="6520589"/>
            <a:ext cx="6162750" cy="1868362"/>
            <a:chOff x="0" y="0"/>
            <a:chExt cx="8217000" cy="2491149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8217000" cy="2491149"/>
              <a:chOff x="0" y="0"/>
              <a:chExt cx="2768926" cy="839456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768926" cy="839456"/>
              </a:xfrm>
              <a:custGeom>
                <a:avLst/>
                <a:gdLst/>
                <a:ahLst/>
                <a:cxnLst/>
                <a:rect r="r" b="b" t="t" l="l"/>
                <a:pathLst>
                  <a:path h="839456" w="2768926">
                    <a:moveTo>
                      <a:pt x="64068" y="0"/>
                    </a:moveTo>
                    <a:lnTo>
                      <a:pt x="2704857" y="0"/>
                    </a:lnTo>
                    <a:cubicBezTo>
                      <a:pt x="2721849" y="0"/>
                      <a:pt x="2738145" y="6750"/>
                      <a:pt x="2750160" y="18765"/>
                    </a:cubicBezTo>
                    <a:cubicBezTo>
                      <a:pt x="2762176" y="30780"/>
                      <a:pt x="2768926" y="47076"/>
                      <a:pt x="2768926" y="64068"/>
                    </a:cubicBezTo>
                    <a:lnTo>
                      <a:pt x="2768926" y="775387"/>
                    </a:lnTo>
                    <a:cubicBezTo>
                      <a:pt x="2768926" y="810771"/>
                      <a:pt x="2740241" y="839456"/>
                      <a:pt x="2704857" y="839456"/>
                    </a:cubicBezTo>
                    <a:lnTo>
                      <a:pt x="64068" y="839456"/>
                    </a:lnTo>
                    <a:cubicBezTo>
                      <a:pt x="47076" y="839456"/>
                      <a:pt x="30780" y="832705"/>
                      <a:pt x="18765" y="820690"/>
                    </a:cubicBezTo>
                    <a:cubicBezTo>
                      <a:pt x="6750" y="808675"/>
                      <a:pt x="0" y="792379"/>
                      <a:pt x="0" y="775387"/>
                    </a:cubicBezTo>
                    <a:lnTo>
                      <a:pt x="0" y="64068"/>
                    </a:lnTo>
                    <a:cubicBezTo>
                      <a:pt x="0" y="47076"/>
                      <a:pt x="6750" y="30780"/>
                      <a:pt x="18765" y="18765"/>
                    </a:cubicBezTo>
                    <a:cubicBezTo>
                      <a:pt x="30780" y="6750"/>
                      <a:pt x="47076" y="0"/>
                      <a:pt x="64068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66675"/>
                <a:ext cx="2768926" cy="906131"/>
              </a:xfrm>
              <a:prstGeom prst="rect">
                <a:avLst/>
              </a:prstGeom>
            </p:spPr>
            <p:txBody>
              <a:bodyPr anchor="ctr" rtlCol="false" tIns="39524" lIns="39524" bIns="39524" rIns="39524"/>
              <a:lstStyle/>
              <a:p>
                <a:pPr algn="just">
                  <a:lnSpc>
                    <a:spcPts val="3640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247291" y="174141"/>
              <a:ext cx="7722417" cy="20648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104"/>
                </a:lnSpc>
              </a:pPr>
              <a:r>
                <a:rPr lang="en-US" sz="2217" b="true">
                  <a:solidFill>
                    <a:srgbClr val="273A45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Highly parallel processing → suitable for Gbps 5G data throughput</a:t>
              </a:r>
            </a:p>
            <a:p>
              <a:pPr algn="just">
                <a:lnSpc>
                  <a:spcPts val="3104"/>
                </a:lnSpc>
                <a:spcBef>
                  <a:spcPct val="0"/>
                </a:spcBef>
              </a:pPr>
              <a:r>
                <a:rPr lang="en-US" b="true" sz="2217">
                  <a:solidFill>
                    <a:srgbClr val="273A45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High reliability for small blocks &amp; low latency → ideal for control channels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3944572" y="8664116"/>
            <a:ext cx="1890049" cy="1188368"/>
          </a:xfrm>
          <a:custGeom>
            <a:avLst/>
            <a:gdLst/>
            <a:ahLst/>
            <a:cxnLst/>
            <a:rect r="r" b="b" t="t" l="l"/>
            <a:pathLst>
              <a:path h="1188368" w="1890049">
                <a:moveTo>
                  <a:pt x="0" y="0"/>
                </a:moveTo>
                <a:lnTo>
                  <a:pt x="1890049" y="0"/>
                </a:lnTo>
                <a:lnTo>
                  <a:pt x="1890049" y="1188368"/>
                </a:lnTo>
                <a:lnTo>
                  <a:pt x="0" y="1188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6436967" y="8664116"/>
            <a:ext cx="6016412" cy="1044265"/>
            <a:chOff x="0" y="0"/>
            <a:chExt cx="8021882" cy="1392353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8021882" cy="1392353"/>
              <a:chOff x="0" y="0"/>
              <a:chExt cx="3217580" cy="558473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3217580" cy="558473"/>
              </a:xfrm>
              <a:custGeom>
                <a:avLst/>
                <a:gdLst/>
                <a:ahLst/>
                <a:cxnLst/>
                <a:rect r="r" b="b" t="t" l="l"/>
                <a:pathLst>
                  <a:path h="558473" w="3217580">
                    <a:moveTo>
                      <a:pt x="65627" y="0"/>
                    </a:moveTo>
                    <a:lnTo>
                      <a:pt x="3151954" y="0"/>
                    </a:lnTo>
                    <a:cubicBezTo>
                      <a:pt x="3188198" y="0"/>
                      <a:pt x="3217580" y="29382"/>
                      <a:pt x="3217580" y="65627"/>
                    </a:cubicBezTo>
                    <a:lnTo>
                      <a:pt x="3217580" y="492847"/>
                    </a:lnTo>
                    <a:cubicBezTo>
                      <a:pt x="3217580" y="510252"/>
                      <a:pt x="3210666" y="526944"/>
                      <a:pt x="3198359" y="539252"/>
                    </a:cubicBezTo>
                    <a:cubicBezTo>
                      <a:pt x="3186051" y="551559"/>
                      <a:pt x="3169359" y="558473"/>
                      <a:pt x="3151954" y="558473"/>
                    </a:cubicBezTo>
                    <a:lnTo>
                      <a:pt x="65627" y="558473"/>
                    </a:lnTo>
                    <a:cubicBezTo>
                      <a:pt x="48221" y="558473"/>
                      <a:pt x="31529" y="551559"/>
                      <a:pt x="19222" y="539252"/>
                    </a:cubicBezTo>
                    <a:cubicBezTo>
                      <a:pt x="6914" y="526944"/>
                      <a:pt x="0" y="510252"/>
                      <a:pt x="0" y="492847"/>
                    </a:cubicBezTo>
                    <a:lnTo>
                      <a:pt x="0" y="65627"/>
                    </a:lnTo>
                    <a:cubicBezTo>
                      <a:pt x="0" y="48222"/>
                      <a:pt x="6914" y="31529"/>
                      <a:pt x="19222" y="19222"/>
                    </a:cubicBezTo>
                    <a:cubicBezTo>
                      <a:pt x="31529" y="6914"/>
                      <a:pt x="48221" y="0"/>
                      <a:pt x="65627" y="0"/>
                    </a:cubicBezTo>
                    <a:close/>
                  </a:path>
                </a:pathLst>
              </a:custGeom>
              <a:solidFill>
                <a:srgbClr val="2B5895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66675"/>
                <a:ext cx="3217580" cy="625148"/>
              </a:xfrm>
              <a:prstGeom prst="rect">
                <a:avLst/>
              </a:prstGeom>
            </p:spPr>
            <p:txBody>
              <a:bodyPr anchor="ctr" rtlCol="false" tIns="25018" lIns="25018" bIns="25018" rIns="25018"/>
              <a:lstStyle/>
              <a:p>
                <a:pPr algn="just">
                  <a:lnSpc>
                    <a:spcPts val="3640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225650" y="120327"/>
              <a:ext cx="7570582" cy="999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35"/>
                </a:lnSpc>
                <a:spcBef>
                  <a:spcPct val="0"/>
                </a:spcBef>
              </a:pPr>
              <a:r>
                <a:rPr lang="en-US" sz="2168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LDPC</a:t>
              </a:r>
              <a:r>
                <a:rPr lang="en-US" sz="2168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+ Polar maintain </a:t>
              </a:r>
              <a:r>
                <a:rPr lang="en-US" sz="2168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h</a:t>
              </a:r>
              <a:r>
                <a:rPr lang="en-US" sz="2168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igh speed &amp; </a:t>
              </a:r>
              <a:r>
                <a:rPr lang="en-US" sz="2168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low</a:t>
              </a:r>
              <a:r>
                <a:rPr lang="en-US" sz="2168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error rat</a:t>
              </a:r>
              <a:r>
                <a:rPr lang="en-US" sz="2168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</a:t>
              </a:r>
              <a:r>
                <a:rPr lang="en-US" sz="2168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in dense environments.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543442" y="4279083"/>
            <a:ext cx="5999270" cy="1728833"/>
            <a:chOff x="0" y="0"/>
            <a:chExt cx="7999026" cy="2305111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7999026" cy="2305111"/>
              <a:chOff x="0" y="0"/>
              <a:chExt cx="1754587" cy="505626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754587" cy="505626"/>
              </a:xfrm>
              <a:custGeom>
                <a:avLst/>
                <a:gdLst/>
                <a:ahLst/>
                <a:cxnLst/>
                <a:rect r="r" b="b" t="t" l="l"/>
                <a:pathLst>
                  <a:path h="505626" w="1754587">
                    <a:moveTo>
                      <a:pt x="59268" y="0"/>
                    </a:moveTo>
                    <a:lnTo>
                      <a:pt x="1695319" y="0"/>
                    </a:lnTo>
                    <a:cubicBezTo>
                      <a:pt x="1728052" y="0"/>
                      <a:pt x="1754587" y="26535"/>
                      <a:pt x="1754587" y="59268"/>
                    </a:cubicBezTo>
                    <a:lnTo>
                      <a:pt x="1754587" y="446359"/>
                    </a:lnTo>
                    <a:cubicBezTo>
                      <a:pt x="1754587" y="479091"/>
                      <a:pt x="1728052" y="505626"/>
                      <a:pt x="1695319" y="505626"/>
                    </a:cubicBezTo>
                    <a:lnTo>
                      <a:pt x="59268" y="505626"/>
                    </a:lnTo>
                    <a:cubicBezTo>
                      <a:pt x="26535" y="505626"/>
                      <a:pt x="0" y="479091"/>
                      <a:pt x="0" y="446359"/>
                    </a:cubicBezTo>
                    <a:lnTo>
                      <a:pt x="0" y="59268"/>
                    </a:lnTo>
                    <a:cubicBezTo>
                      <a:pt x="0" y="26535"/>
                      <a:pt x="26535" y="0"/>
                      <a:pt x="59268" y="0"/>
                    </a:cubicBezTo>
                    <a:close/>
                  </a:path>
                </a:pathLst>
              </a:custGeom>
              <a:solidFill>
                <a:srgbClr val="BAE8ED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66675"/>
                <a:ext cx="1754587" cy="5723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645154" y="233228"/>
              <a:ext cx="6708719" cy="17719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30"/>
                </a:lnSpc>
                <a:spcBef>
                  <a:spcPct val="0"/>
                </a:spcBef>
              </a:pPr>
              <a:r>
                <a:rPr lang="en-US" b="true" sz="252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Polar Code:</a:t>
              </a:r>
              <a:r>
                <a:rPr lang="en-US" sz="2521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Chia kênh thành “kênh tốt” (chứa bit thông tin) &amp; “kênh xấu” (frozen = 0)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5400000">
            <a:off x="4904851" y="4039282"/>
            <a:ext cx="592159" cy="372320"/>
          </a:xfrm>
          <a:custGeom>
            <a:avLst/>
            <a:gdLst/>
            <a:ahLst/>
            <a:cxnLst/>
            <a:rect r="r" b="b" t="t" l="l"/>
            <a:pathLst>
              <a:path h="372320" w="592159">
                <a:moveTo>
                  <a:pt x="0" y="0"/>
                </a:moveTo>
                <a:lnTo>
                  <a:pt x="592159" y="0"/>
                </a:lnTo>
                <a:lnTo>
                  <a:pt x="592159" y="372320"/>
                </a:lnTo>
                <a:lnTo>
                  <a:pt x="0" y="372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5400000">
            <a:off x="13433157" y="4039282"/>
            <a:ext cx="592159" cy="372320"/>
          </a:xfrm>
          <a:custGeom>
            <a:avLst/>
            <a:gdLst/>
            <a:ahLst/>
            <a:cxnLst/>
            <a:rect r="r" b="b" t="t" l="l"/>
            <a:pathLst>
              <a:path h="372320" w="592159">
                <a:moveTo>
                  <a:pt x="0" y="0"/>
                </a:moveTo>
                <a:lnTo>
                  <a:pt x="592159" y="0"/>
                </a:lnTo>
                <a:lnTo>
                  <a:pt x="592159" y="372320"/>
                </a:lnTo>
                <a:lnTo>
                  <a:pt x="0" y="372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8171634">
            <a:off x="11308098" y="5995128"/>
            <a:ext cx="592159" cy="372320"/>
          </a:xfrm>
          <a:custGeom>
            <a:avLst/>
            <a:gdLst/>
            <a:ahLst/>
            <a:cxnLst/>
            <a:rect r="r" b="b" t="t" l="l"/>
            <a:pathLst>
              <a:path h="372320" w="592159">
                <a:moveTo>
                  <a:pt x="0" y="0"/>
                </a:moveTo>
                <a:lnTo>
                  <a:pt x="592158" y="0"/>
                </a:lnTo>
                <a:lnTo>
                  <a:pt x="592158" y="372320"/>
                </a:lnTo>
                <a:lnTo>
                  <a:pt x="0" y="372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2700000">
            <a:off x="6884874" y="5993435"/>
            <a:ext cx="592159" cy="372320"/>
          </a:xfrm>
          <a:custGeom>
            <a:avLst/>
            <a:gdLst/>
            <a:ahLst/>
            <a:cxnLst/>
            <a:rect r="r" b="b" t="t" l="l"/>
            <a:pathLst>
              <a:path h="372320" w="592159">
                <a:moveTo>
                  <a:pt x="0" y="0"/>
                </a:moveTo>
                <a:lnTo>
                  <a:pt x="592159" y="0"/>
                </a:lnTo>
                <a:lnTo>
                  <a:pt x="592159" y="372319"/>
                </a:lnTo>
                <a:lnTo>
                  <a:pt x="0" y="3723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401619" y="-1836715"/>
            <a:ext cx="13960430" cy="13960430"/>
          </a:xfrm>
          <a:custGeom>
            <a:avLst/>
            <a:gdLst/>
            <a:ahLst/>
            <a:cxnLst/>
            <a:rect r="r" b="b" t="t" l="l"/>
            <a:pathLst>
              <a:path h="13960430" w="13960430">
                <a:moveTo>
                  <a:pt x="0" y="0"/>
                </a:moveTo>
                <a:lnTo>
                  <a:pt x="13960431" y="0"/>
                </a:lnTo>
                <a:lnTo>
                  <a:pt x="13960431" y="13960430"/>
                </a:lnTo>
                <a:lnTo>
                  <a:pt x="0" y="13960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2525" y="4606757"/>
            <a:ext cx="7568926" cy="1151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b="true" sz="6800">
                <a:solidFill>
                  <a:srgbClr val="FFDE59"/>
                </a:solidFill>
                <a:latin typeface="K2D Bold"/>
                <a:ea typeface="K2D Bold"/>
                <a:cs typeface="K2D Bold"/>
                <a:sym typeface="K2D Bold"/>
              </a:rPr>
              <a:t>NEW KNOWLEDGE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664733"/>
            <a:ext cx="6070698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000" b="true">
                <a:solidFill>
                  <a:srgbClr val="2A2E3A"/>
                </a:solidFill>
                <a:latin typeface="K2D Bold"/>
                <a:ea typeface="K2D Bold"/>
                <a:cs typeface="K2D Bold"/>
                <a:sym typeface="K2D Bold"/>
              </a:rPr>
              <a:t>PART 4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366862" y="1028471"/>
            <a:ext cx="8084510" cy="2133753"/>
            <a:chOff x="0" y="0"/>
            <a:chExt cx="10779347" cy="28450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6096" y="320823"/>
              <a:ext cx="2203358" cy="2203358"/>
            </a:xfrm>
            <a:custGeom>
              <a:avLst/>
              <a:gdLst/>
              <a:ahLst/>
              <a:cxnLst/>
              <a:rect r="r" b="b" t="t" l="l"/>
              <a:pathLst>
                <a:path h="2203358" w="2203358">
                  <a:moveTo>
                    <a:pt x="0" y="0"/>
                  </a:moveTo>
                  <a:lnTo>
                    <a:pt x="2203358" y="0"/>
                  </a:lnTo>
                  <a:lnTo>
                    <a:pt x="2203358" y="2203358"/>
                  </a:lnTo>
                  <a:lnTo>
                    <a:pt x="0" y="2203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4999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84899" y="549626"/>
              <a:ext cx="1745752" cy="1745752"/>
            </a:xfrm>
            <a:custGeom>
              <a:avLst/>
              <a:gdLst/>
              <a:ahLst/>
              <a:cxnLst/>
              <a:rect r="r" b="b" t="t" l="l"/>
              <a:pathLst>
                <a:path h="1745752" w="1745752">
                  <a:moveTo>
                    <a:pt x="0" y="0"/>
                  </a:moveTo>
                  <a:lnTo>
                    <a:pt x="1745752" y="0"/>
                  </a:lnTo>
                  <a:lnTo>
                    <a:pt x="1745752" y="1745752"/>
                  </a:lnTo>
                  <a:lnTo>
                    <a:pt x="0" y="1745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00409" y="1079763"/>
              <a:ext cx="514732" cy="685478"/>
            </a:xfrm>
            <a:custGeom>
              <a:avLst/>
              <a:gdLst/>
              <a:ahLst/>
              <a:cxnLst/>
              <a:rect r="r" b="b" t="t" l="l"/>
              <a:pathLst>
                <a:path h="685478" w="514732">
                  <a:moveTo>
                    <a:pt x="0" y="0"/>
                  </a:moveTo>
                  <a:lnTo>
                    <a:pt x="514732" y="0"/>
                  </a:lnTo>
                  <a:lnTo>
                    <a:pt x="514732" y="685478"/>
                  </a:lnTo>
                  <a:lnTo>
                    <a:pt x="0" y="6854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9" id="9"/>
            <p:cNvGrpSpPr/>
            <p:nvPr/>
          </p:nvGrpSpPr>
          <p:grpSpPr>
            <a:xfrm rot="0">
              <a:off x="0" y="0"/>
              <a:ext cx="10779347" cy="2845004"/>
              <a:chOff x="0" y="0"/>
              <a:chExt cx="2347253" cy="61951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47253" cy="619513"/>
              </a:xfrm>
              <a:custGeom>
                <a:avLst/>
                <a:gdLst/>
                <a:ahLst/>
                <a:cxnLst/>
                <a:rect r="r" b="b" t="t" l="l"/>
                <a:pathLst>
                  <a:path h="619513" w="2347253">
                    <a:moveTo>
                      <a:pt x="48839" y="0"/>
                    </a:moveTo>
                    <a:lnTo>
                      <a:pt x="2298414" y="0"/>
                    </a:lnTo>
                    <a:cubicBezTo>
                      <a:pt x="2325387" y="0"/>
                      <a:pt x="2347253" y="21866"/>
                      <a:pt x="2347253" y="48839"/>
                    </a:cubicBezTo>
                    <a:lnTo>
                      <a:pt x="2347253" y="570674"/>
                    </a:lnTo>
                    <a:cubicBezTo>
                      <a:pt x="2347253" y="583627"/>
                      <a:pt x="2342107" y="596049"/>
                      <a:pt x="2332948" y="605208"/>
                    </a:cubicBezTo>
                    <a:cubicBezTo>
                      <a:pt x="2323789" y="614367"/>
                      <a:pt x="2311367" y="619513"/>
                      <a:pt x="2298414" y="619513"/>
                    </a:cubicBezTo>
                    <a:lnTo>
                      <a:pt x="48839" y="619513"/>
                    </a:lnTo>
                    <a:cubicBezTo>
                      <a:pt x="35886" y="619513"/>
                      <a:pt x="23464" y="614367"/>
                      <a:pt x="14305" y="605208"/>
                    </a:cubicBezTo>
                    <a:cubicBezTo>
                      <a:pt x="5146" y="596049"/>
                      <a:pt x="0" y="583627"/>
                      <a:pt x="0" y="570674"/>
                    </a:cubicBezTo>
                    <a:lnTo>
                      <a:pt x="0" y="48839"/>
                    </a:lnTo>
                    <a:cubicBezTo>
                      <a:pt x="0" y="35886"/>
                      <a:pt x="5146" y="23464"/>
                      <a:pt x="14305" y="14305"/>
                    </a:cubicBezTo>
                    <a:cubicBezTo>
                      <a:pt x="23464" y="5146"/>
                      <a:pt x="35886" y="0"/>
                      <a:pt x="4883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66675"/>
                <a:ext cx="2347253" cy="686188"/>
              </a:xfrm>
              <a:prstGeom prst="rect">
                <a:avLst/>
              </a:prstGeom>
            </p:spPr>
            <p:txBody>
              <a:bodyPr anchor="ctr" rtlCol="false" tIns="46082" lIns="46082" bIns="46082" rIns="46082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3040387" y="549626"/>
              <a:ext cx="7478896" cy="1635169"/>
              <a:chOff x="0" y="0"/>
              <a:chExt cx="1628564" cy="35606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628564" cy="356066"/>
              </a:xfrm>
              <a:custGeom>
                <a:avLst/>
                <a:gdLst/>
                <a:ahLst/>
                <a:cxnLst/>
                <a:rect r="r" b="b" t="t" l="l"/>
                <a:pathLst>
                  <a:path h="356066" w="1628564">
                    <a:moveTo>
                      <a:pt x="70391" y="0"/>
                    </a:moveTo>
                    <a:lnTo>
                      <a:pt x="1558173" y="0"/>
                    </a:lnTo>
                    <a:cubicBezTo>
                      <a:pt x="1576842" y="0"/>
                      <a:pt x="1594746" y="7416"/>
                      <a:pt x="1607947" y="20617"/>
                    </a:cubicBezTo>
                    <a:cubicBezTo>
                      <a:pt x="1621148" y="33818"/>
                      <a:pt x="1628564" y="51723"/>
                      <a:pt x="1628564" y="70391"/>
                    </a:cubicBezTo>
                    <a:lnTo>
                      <a:pt x="1628564" y="285674"/>
                    </a:lnTo>
                    <a:cubicBezTo>
                      <a:pt x="1628564" y="324550"/>
                      <a:pt x="1597049" y="356066"/>
                      <a:pt x="1558173" y="356066"/>
                    </a:cubicBezTo>
                    <a:lnTo>
                      <a:pt x="70391" y="356066"/>
                    </a:lnTo>
                    <a:cubicBezTo>
                      <a:pt x="51723" y="356066"/>
                      <a:pt x="33818" y="348649"/>
                      <a:pt x="20617" y="335448"/>
                    </a:cubicBezTo>
                    <a:cubicBezTo>
                      <a:pt x="7416" y="322248"/>
                      <a:pt x="0" y="304343"/>
                      <a:pt x="0" y="285674"/>
                    </a:cubicBezTo>
                    <a:lnTo>
                      <a:pt x="0" y="70391"/>
                    </a:lnTo>
                    <a:cubicBezTo>
                      <a:pt x="0" y="31515"/>
                      <a:pt x="31515" y="0"/>
                      <a:pt x="70391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66675"/>
                <a:ext cx="1628564" cy="422741"/>
              </a:xfrm>
              <a:prstGeom prst="rect">
                <a:avLst/>
              </a:prstGeom>
            </p:spPr>
            <p:txBody>
              <a:bodyPr anchor="ctr" rtlCol="false" tIns="46082" lIns="46082" bIns="46082" rIns="46082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315400" y="843601"/>
              <a:ext cx="1168778" cy="921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442"/>
                </a:lnSpc>
                <a:spcBef>
                  <a:spcPct val="0"/>
                </a:spcBef>
              </a:pPr>
              <a:r>
                <a:rPr lang="en-US" b="true" sz="4535">
                  <a:solidFill>
                    <a:srgbClr val="FFFFFF"/>
                  </a:solidFill>
                  <a:latin typeface="K2D Bold"/>
                  <a:ea typeface="K2D Bold"/>
                  <a:cs typeface="K2D Bold"/>
                  <a:sym typeface="K2D Bold"/>
                </a:rPr>
                <a:t>4.1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291134" y="1012726"/>
              <a:ext cx="5910306" cy="7528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777"/>
                </a:lnSpc>
                <a:spcBef>
                  <a:spcPct val="0"/>
                </a:spcBef>
              </a:pPr>
              <a:r>
                <a:rPr lang="en-US" b="true" sz="3412">
                  <a:solidFill>
                    <a:srgbClr val="FFDE59"/>
                  </a:solidFill>
                  <a:latin typeface="K2D Bold"/>
                  <a:ea typeface="K2D Bold"/>
                  <a:cs typeface="K2D Bold"/>
                  <a:sym typeface="K2D Bold"/>
                </a:rPr>
                <a:t>Beamforming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66862" y="4076624"/>
            <a:ext cx="8084510" cy="2133753"/>
            <a:chOff x="0" y="0"/>
            <a:chExt cx="10779347" cy="28450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56096" y="320823"/>
              <a:ext cx="2203358" cy="2203358"/>
            </a:xfrm>
            <a:custGeom>
              <a:avLst/>
              <a:gdLst/>
              <a:ahLst/>
              <a:cxnLst/>
              <a:rect r="r" b="b" t="t" l="l"/>
              <a:pathLst>
                <a:path h="2203358" w="2203358">
                  <a:moveTo>
                    <a:pt x="0" y="0"/>
                  </a:moveTo>
                  <a:lnTo>
                    <a:pt x="2203358" y="0"/>
                  </a:lnTo>
                  <a:lnTo>
                    <a:pt x="2203358" y="2203358"/>
                  </a:lnTo>
                  <a:lnTo>
                    <a:pt x="0" y="2203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4999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484899" y="549626"/>
              <a:ext cx="1745752" cy="1745752"/>
            </a:xfrm>
            <a:custGeom>
              <a:avLst/>
              <a:gdLst/>
              <a:ahLst/>
              <a:cxnLst/>
              <a:rect r="r" b="b" t="t" l="l"/>
              <a:pathLst>
                <a:path h="1745752" w="1745752">
                  <a:moveTo>
                    <a:pt x="0" y="0"/>
                  </a:moveTo>
                  <a:lnTo>
                    <a:pt x="1745752" y="0"/>
                  </a:lnTo>
                  <a:lnTo>
                    <a:pt x="1745752" y="1745752"/>
                  </a:lnTo>
                  <a:lnTo>
                    <a:pt x="0" y="1745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100409" y="1079763"/>
              <a:ext cx="514732" cy="685478"/>
            </a:xfrm>
            <a:custGeom>
              <a:avLst/>
              <a:gdLst/>
              <a:ahLst/>
              <a:cxnLst/>
              <a:rect r="r" b="b" t="t" l="l"/>
              <a:pathLst>
                <a:path h="685478" w="514732">
                  <a:moveTo>
                    <a:pt x="0" y="0"/>
                  </a:moveTo>
                  <a:lnTo>
                    <a:pt x="514732" y="0"/>
                  </a:lnTo>
                  <a:lnTo>
                    <a:pt x="514732" y="685478"/>
                  </a:lnTo>
                  <a:lnTo>
                    <a:pt x="0" y="6854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21" id="21"/>
            <p:cNvGrpSpPr/>
            <p:nvPr/>
          </p:nvGrpSpPr>
          <p:grpSpPr>
            <a:xfrm rot="0">
              <a:off x="0" y="0"/>
              <a:ext cx="10779347" cy="2845004"/>
              <a:chOff x="0" y="0"/>
              <a:chExt cx="2347253" cy="61951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347253" cy="619513"/>
              </a:xfrm>
              <a:custGeom>
                <a:avLst/>
                <a:gdLst/>
                <a:ahLst/>
                <a:cxnLst/>
                <a:rect r="r" b="b" t="t" l="l"/>
                <a:pathLst>
                  <a:path h="619513" w="2347253">
                    <a:moveTo>
                      <a:pt x="48839" y="0"/>
                    </a:moveTo>
                    <a:lnTo>
                      <a:pt x="2298414" y="0"/>
                    </a:lnTo>
                    <a:cubicBezTo>
                      <a:pt x="2325387" y="0"/>
                      <a:pt x="2347253" y="21866"/>
                      <a:pt x="2347253" y="48839"/>
                    </a:cubicBezTo>
                    <a:lnTo>
                      <a:pt x="2347253" y="570674"/>
                    </a:lnTo>
                    <a:cubicBezTo>
                      <a:pt x="2347253" y="583627"/>
                      <a:pt x="2342107" y="596049"/>
                      <a:pt x="2332948" y="605208"/>
                    </a:cubicBezTo>
                    <a:cubicBezTo>
                      <a:pt x="2323789" y="614367"/>
                      <a:pt x="2311367" y="619513"/>
                      <a:pt x="2298414" y="619513"/>
                    </a:cubicBezTo>
                    <a:lnTo>
                      <a:pt x="48839" y="619513"/>
                    </a:lnTo>
                    <a:cubicBezTo>
                      <a:pt x="35886" y="619513"/>
                      <a:pt x="23464" y="614367"/>
                      <a:pt x="14305" y="605208"/>
                    </a:cubicBezTo>
                    <a:cubicBezTo>
                      <a:pt x="5146" y="596049"/>
                      <a:pt x="0" y="583627"/>
                      <a:pt x="0" y="570674"/>
                    </a:cubicBezTo>
                    <a:lnTo>
                      <a:pt x="0" y="48839"/>
                    </a:lnTo>
                    <a:cubicBezTo>
                      <a:pt x="0" y="35886"/>
                      <a:pt x="5146" y="23464"/>
                      <a:pt x="14305" y="14305"/>
                    </a:cubicBezTo>
                    <a:cubicBezTo>
                      <a:pt x="23464" y="5146"/>
                      <a:pt x="35886" y="0"/>
                      <a:pt x="4883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66675"/>
                <a:ext cx="2347253" cy="686188"/>
              </a:xfrm>
              <a:prstGeom prst="rect">
                <a:avLst/>
              </a:prstGeom>
            </p:spPr>
            <p:txBody>
              <a:bodyPr anchor="ctr" rtlCol="false" tIns="46082" lIns="46082" bIns="46082" rIns="46082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3040387" y="549626"/>
              <a:ext cx="7478896" cy="1635169"/>
              <a:chOff x="0" y="0"/>
              <a:chExt cx="1628564" cy="356066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628564" cy="356066"/>
              </a:xfrm>
              <a:custGeom>
                <a:avLst/>
                <a:gdLst/>
                <a:ahLst/>
                <a:cxnLst/>
                <a:rect r="r" b="b" t="t" l="l"/>
                <a:pathLst>
                  <a:path h="356066" w="1628564">
                    <a:moveTo>
                      <a:pt x="70391" y="0"/>
                    </a:moveTo>
                    <a:lnTo>
                      <a:pt x="1558173" y="0"/>
                    </a:lnTo>
                    <a:cubicBezTo>
                      <a:pt x="1576842" y="0"/>
                      <a:pt x="1594746" y="7416"/>
                      <a:pt x="1607947" y="20617"/>
                    </a:cubicBezTo>
                    <a:cubicBezTo>
                      <a:pt x="1621148" y="33818"/>
                      <a:pt x="1628564" y="51723"/>
                      <a:pt x="1628564" y="70391"/>
                    </a:cubicBezTo>
                    <a:lnTo>
                      <a:pt x="1628564" y="285674"/>
                    </a:lnTo>
                    <a:cubicBezTo>
                      <a:pt x="1628564" y="324550"/>
                      <a:pt x="1597049" y="356066"/>
                      <a:pt x="1558173" y="356066"/>
                    </a:cubicBezTo>
                    <a:lnTo>
                      <a:pt x="70391" y="356066"/>
                    </a:lnTo>
                    <a:cubicBezTo>
                      <a:pt x="51723" y="356066"/>
                      <a:pt x="33818" y="348649"/>
                      <a:pt x="20617" y="335448"/>
                    </a:cubicBezTo>
                    <a:cubicBezTo>
                      <a:pt x="7416" y="322248"/>
                      <a:pt x="0" y="304343"/>
                      <a:pt x="0" y="285674"/>
                    </a:cubicBezTo>
                    <a:lnTo>
                      <a:pt x="0" y="70391"/>
                    </a:lnTo>
                    <a:cubicBezTo>
                      <a:pt x="0" y="31515"/>
                      <a:pt x="31515" y="0"/>
                      <a:pt x="70391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66675"/>
                <a:ext cx="1628564" cy="422741"/>
              </a:xfrm>
              <a:prstGeom prst="rect">
                <a:avLst/>
              </a:prstGeom>
            </p:spPr>
            <p:txBody>
              <a:bodyPr anchor="ctr" rtlCol="false" tIns="46082" lIns="46082" bIns="46082" rIns="46082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3315400" y="843601"/>
              <a:ext cx="1168778" cy="921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442"/>
                </a:lnSpc>
                <a:spcBef>
                  <a:spcPct val="0"/>
                </a:spcBef>
              </a:pPr>
              <a:r>
                <a:rPr lang="en-US" b="true" sz="4535">
                  <a:solidFill>
                    <a:srgbClr val="FFFFFF"/>
                  </a:solidFill>
                  <a:latin typeface="K2D Bold"/>
                  <a:ea typeface="K2D Bold"/>
                  <a:cs typeface="K2D Bold"/>
                  <a:sym typeface="K2D Bold"/>
                </a:rPr>
                <a:t>4.2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4484179" y="665888"/>
              <a:ext cx="5216442" cy="13550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80"/>
                </a:lnSpc>
                <a:spcBef>
                  <a:spcPct val="0"/>
                </a:spcBef>
              </a:pPr>
              <a:r>
                <a:rPr lang="en-US" b="true" sz="2985">
                  <a:solidFill>
                    <a:srgbClr val="FFDE59"/>
                  </a:solidFill>
                  <a:latin typeface="K2D Bold"/>
                  <a:ea typeface="K2D Bold"/>
                  <a:cs typeface="K2D Bold"/>
                  <a:sym typeface="K2D Bold"/>
                </a:rPr>
                <a:t>Massive MIMO and MU-MIMO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66862" y="7124547"/>
            <a:ext cx="8084510" cy="2133753"/>
            <a:chOff x="0" y="0"/>
            <a:chExt cx="10779347" cy="284500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56096" y="320823"/>
              <a:ext cx="2203358" cy="2203358"/>
            </a:xfrm>
            <a:custGeom>
              <a:avLst/>
              <a:gdLst/>
              <a:ahLst/>
              <a:cxnLst/>
              <a:rect r="r" b="b" t="t" l="l"/>
              <a:pathLst>
                <a:path h="2203358" w="2203358">
                  <a:moveTo>
                    <a:pt x="0" y="0"/>
                  </a:moveTo>
                  <a:lnTo>
                    <a:pt x="2203358" y="0"/>
                  </a:lnTo>
                  <a:lnTo>
                    <a:pt x="2203358" y="2203358"/>
                  </a:lnTo>
                  <a:lnTo>
                    <a:pt x="0" y="2203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4999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484899" y="549626"/>
              <a:ext cx="1745752" cy="1745752"/>
            </a:xfrm>
            <a:custGeom>
              <a:avLst/>
              <a:gdLst/>
              <a:ahLst/>
              <a:cxnLst/>
              <a:rect r="r" b="b" t="t" l="l"/>
              <a:pathLst>
                <a:path h="1745752" w="1745752">
                  <a:moveTo>
                    <a:pt x="0" y="0"/>
                  </a:moveTo>
                  <a:lnTo>
                    <a:pt x="1745752" y="0"/>
                  </a:lnTo>
                  <a:lnTo>
                    <a:pt x="1745752" y="1745752"/>
                  </a:lnTo>
                  <a:lnTo>
                    <a:pt x="0" y="1745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100409" y="1079763"/>
              <a:ext cx="514732" cy="685478"/>
            </a:xfrm>
            <a:custGeom>
              <a:avLst/>
              <a:gdLst/>
              <a:ahLst/>
              <a:cxnLst/>
              <a:rect r="r" b="b" t="t" l="l"/>
              <a:pathLst>
                <a:path h="685478" w="514732">
                  <a:moveTo>
                    <a:pt x="0" y="0"/>
                  </a:moveTo>
                  <a:lnTo>
                    <a:pt x="514732" y="0"/>
                  </a:lnTo>
                  <a:lnTo>
                    <a:pt x="514732" y="685478"/>
                  </a:lnTo>
                  <a:lnTo>
                    <a:pt x="0" y="6854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33" id="33"/>
            <p:cNvGrpSpPr/>
            <p:nvPr/>
          </p:nvGrpSpPr>
          <p:grpSpPr>
            <a:xfrm rot="0">
              <a:off x="0" y="0"/>
              <a:ext cx="10779347" cy="2845004"/>
              <a:chOff x="0" y="0"/>
              <a:chExt cx="2347253" cy="61951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2347253" cy="619513"/>
              </a:xfrm>
              <a:custGeom>
                <a:avLst/>
                <a:gdLst/>
                <a:ahLst/>
                <a:cxnLst/>
                <a:rect r="r" b="b" t="t" l="l"/>
                <a:pathLst>
                  <a:path h="619513" w="2347253">
                    <a:moveTo>
                      <a:pt x="48839" y="0"/>
                    </a:moveTo>
                    <a:lnTo>
                      <a:pt x="2298414" y="0"/>
                    </a:lnTo>
                    <a:cubicBezTo>
                      <a:pt x="2325387" y="0"/>
                      <a:pt x="2347253" y="21866"/>
                      <a:pt x="2347253" y="48839"/>
                    </a:cubicBezTo>
                    <a:lnTo>
                      <a:pt x="2347253" y="570674"/>
                    </a:lnTo>
                    <a:cubicBezTo>
                      <a:pt x="2347253" y="583627"/>
                      <a:pt x="2342107" y="596049"/>
                      <a:pt x="2332948" y="605208"/>
                    </a:cubicBezTo>
                    <a:cubicBezTo>
                      <a:pt x="2323789" y="614367"/>
                      <a:pt x="2311367" y="619513"/>
                      <a:pt x="2298414" y="619513"/>
                    </a:cubicBezTo>
                    <a:lnTo>
                      <a:pt x="48839" y="619513"/>
                    </a:lnTo>
                    <a:cubicBezTo>
                      <a:pt x="35886" y="619513"/>
                      <a:pt x="23464" y="614367"/>
                      <a:pt x="14305" y="605208"/>
                    </a:cubicBezTo>
                    <a:cubicBezTo>
                      <a:pt x="5146" y="596049"/>
                      <a:pt x="0" y="583627"/>
                      <a:pt x="0" y="570674"/>
                    </a:cubicBezTo>
                    <a:lnTo>
                      <a:pt x="0" y="48839"/>
                    </a:lnTo>
                    <a:cubicBezTo>
                      <a:pt x="0" y="35886"/>
                      <a:pt x="5146" y="23464"/>
                      <a:pt x="14305" y="14305"/>
                    </a:cubicBezTo>
                    <a:cubicBezTo>
                      <a:pt x="23464" y="5146"/>
                      <a:pt x="35886" y="0"/>
                      <a:pt x="4883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66675"/>
                <a:ext cx="2347253" cy="686188"/>
              </a:xfrm>
              <a:prstGeom prst="rect">
                <a:avLst/>
              </a:prstGeom>
            </p:spPr>
            <p:txBody>
              <a:bodyPr anchor="ctr" rtlCol="false" tIns="46082" lIns="46082" bIns="46082" rIns="46082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3040387" y="549626"/>
              <a:ext cx="7478896" cy="1635169"/>
              <a:chOff x="0" y="0"/>
              <a:chExt cx="1628564" cy="356066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628564" cy="356066"/>
              </a:xfrm>
              <a:custGeom>
                <a:avLst/>
                <a:gdLst/>
                <a:ahLst/>
                <a:cxnLst/>
                <a:rect r="r" b="b" t="t" l="l"/>
                <a:pathLst>
                  <a:path h="356066" w="1628564">
                    <a:moveTo>
                      <a:pt x="70391" y="0"/>
                    </a:moveTo>
                    <a:lnTo>
                      <a:pt x="1558173" y="0"/>
                    </a:lnTo>
                    <a:cubicBezTo>
                      <a:pt x="1576842" y="0"/>
                      <a:pt x="1594746" y="7416"/>
                      <a:pt x="1607947" y="20617"/>
                    </a:cubicBezTo>
                    <a:cubicBezTo>
                      <a:pt x="1621148" y="33818"/>
                      <a:pt x="1628564" y="51723"/>
                      <a:pt x="1628564" y="70391"/>
                    </a:cubicBezTo>
                    <a:lnTo>
                      <a:pt x="1628564" y="285674"/>
                    </a:lnTo>
                    <a:cubicBezTo>
                      <a:pt x="1628564" y="324550"/>
                      <a:pt x="1597049" y="356066"/>
                      <a:pt x="1558173" y="356066"/>
                    </a:cubicBezTo>
                    <a:lnTo>
                      <a:pt x="70391" y="356066"/>
                    </a:lnTo>
                    <a:cubicBezTo>
                      <a:pt x="51723" y="356066"/>
                      <a:pt x="33818" y="348649"/>
                      <a:pt x="20617" y="335448"/>
                    </a:cubicBezTo>
                    <a:cubicBezTo>
                      <a:pt x="7416" y="322248"/>
                      <a:pt x="0" y="304343"/>
                      <a:pt x="0" y="285674"/>
                    </a:cubicBezTo>
                    <a:lnTo>
                      <a:pt x="0" y="70391"/>
                    </a:lnTo>
                    <a:cubicBezTo>
                      <a:pt x="0" y="31515"/>
                      <a:pt x="31515" y="0"/>
                      <a:pt x="70391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66675"/>
                <a:ext cx="1628564" cy="422741"/>
              </a:xfrm>
              <a:prstGeom prst="rect">
                <a:avLst/>
              </a:prstGeom>
            </p:spPr>
            <p:txBody>
              <a:bodyPr anchor="ctr" rtlCol="false" tIns="46082" lIns="46082" bIns="46082" rIns="46082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3315400" y="843601"/>
              <a:ext cx="1363974" cy="921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442"/>
                </a:lnSpc>
                <a:spcBef>
                  <a:spcPct val="0"/>
                </a:spcBef>
              </a:pPr>
              <a:r>
                <a:rPr lang="en-US" b="true" sz="4535">
                  <a:solidFill>
                    <a:srgbClr val="FFFFFF"/>
                  </a:solidFill>
                  <a:latin typeface="K2D Bold"/>
                  <a:ea typeface="K2D Bold"/>
                  <a:cs typeface="K2D Bold"/>
                  <a:sym typeface="K2D Bold"/>
                </a:rPr>
                <a:t>4.3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4291134" y="750646"/>
              <a:ext cx="5910306" cy="12960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040"/>
                </a:lnSpc>
                <a:spcBef>
                  <a:spcPct val="0"/>
                </a:spcBef>
              </a:pPr>
              <a:r>
                <a:rPr lang="en-US" b="true" sz="2885">
                  <a:solidFill>
                    <a:srgbClr val="FFDE59"/>
                  </a:solidFill>
                  <a:latin typeface="K2D Bold"/>
                  <a:ea typeface="K2D Bold"/>
                  <a:cs typeface="K2D Bold"/>
                  <a:sym typeface="K2D Bold"/>
                </a:rPr>
                <a:t> Combining Beamforming and MIMO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4433" y="-2046607"/>
            <a:ext cx="19296866" cy="4574304"/>
            <a:chOff x="0" y="0"/>
            <a:chExt cx="25729155" cy="60990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72578" y="0"/>
              <a:ext cx="24384000" cy="4811609"/>
            </a:xfrm>
            <a:custGeom>
              <a:avLst/>
              <a:gdLst/>
              <a:ahLst/>
              <a:cxnLst/>
              <a:rect r="r" b="b" t="t" l="l"/>
              <a:pathLst>
                <a:path h="481160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11609"/>
                  </a:lnTo>
                  <a:lnTo>
                    <a:pt x="0" y="48116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84715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4704330" y="2944142"/>
              <a:ext cx="16320494" cy="1475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099"/>
                </a:lnSpc>
              </a:pPr>
              <a:r>
                <a:rPr lang="en-US" b="true" sz="6999">
                  <a:solidFill>
                    <a:srgbClr val="FFFFFF"/>
                  </a:solidFill>
                  <a:latin typeface="K2D Bold"/>
                  <a:ea typeface="K2D Bold"/>
                  <a:cs typeface="K2D Bold"/>
                  <a:sym typeface="K2D Bold"/>
                </a:rPr>
                <a:t>PART 4. NEW KNOWLEDGE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4812014"/>
              <a:ext cx="25729155" cy="1287057"/>
              <a:chOff x="0" y="0"/>
              <a:chExt cx="5082302" cy="25423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082302" cy="254234"/>
              </a:xfrm>
              <a:custGeom>
                <a:avLst/>
                <a:gdLst/>
                <a:ahLst/>
                <a:cxnLst/>
                <a:rect r="r" b="b" t="t" l="l"/>
                <a:pathLst>
                  <a:path h="254234" w="5082302">
                    <a:moveTo>
                      <a:pt x="20461" y="0"/>
                    </a:moveTo>
                    <a:lnTo>
                      <a:pt x="5061841" y="0"/>
                    </a:lnTo>
                    <a:cubicBezTo>
                      <a:pt x="5073142" y="0"/>
                      <a:pt x="5082302" y="9161"/>
                      <a:pt x="5082302" y="20461"/>
                    </a:cubicBezTo>
                    <a:lnTo>
                      <a:pt x="5082302" y="233772"/>
                    </a:lnTo>
                    <a:cubicBezTo>
                      <a:pt x="5082302" y="245073"/>
                      <a:pt x="5073142" y="254234"/>
                      <a:pt x="5061841" y="254234"/>
                    </a:cubicBezTo>
                    <a:lnTo>
                      <a:pt x="20461" y="254234"/>
                    </a:lnTo>
                    <a:cubicBezTo>
                      <a:pt x="9161" y="254234"/>
                      <a:pt x="0" y="245073"/>
                      <a:pt x="0" y="233772"/>
                    </a:cubicBezTo>
                    <a:lnTo>
                      <a:pt x="0" y="20461"/>
                    </a:lnTo>
                    <a:cubicBezTo>
                      <a:pt x="0" y="9161"/>
                      <a:pt x="9161" y="0"/>
                      <a:pt x="20461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5082302" cy="3209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672578" y="4904151"/>
              <a:ext cx="24384000" cy="1055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00"/>
                </a:lnSpc>
              </a:pPr>
              <a:r>
                <a:rPr lang="en-US" b="true" sz="5000">
                  <a:solidFill>
                    <a:srgbClr val="153969"/>
                  </a:solidFill>
                  <a:latin typeface="K2D Bold"/>
                  <a:ea typeface="K2D Bold"/>
                  <a:cs typeface="K2D Bold"/>
                  <a:sym typeface="K2D Bold"/>
                </a:rPr>
                <a:t>4.1. Beamforming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24996" y="3069612"/>
            <a:ext cx="15934304" cy="1183572"/>
            <a:chOff x="0" y="0"/>
            <a:chExt cx="21245739" cy="157809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1245739" cy="1578096"/>
              <a:chOff x="0" y="0"/>
              <a:chExt cx="6917953" cy="51385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917953" cy="513853"/>
              </a:xfrm>
              <a:custGeom>
                <a:avLst/>
                <a:gdLst/>
                <a:ahLst/>
                <a:cxnLst/>
                <a:rect r="r" b="b" t="t" l="l"/>
                <a:pathLst>
                  <a:path h="513853" w="6917953">
                    <a:moveTo>
                      <a:pt x="23518" y="0"/>
                    </a:moveTo>
                    <a:lnTo>
                      <a:pt x="6894436" y="0"/>
                    </a:lnTo>
                    <a:cubicBezTo>
                      <a:pt x="6900673" y="0"/>
                      <a:pt x="6906654" y="2478"/>
                      <a:pt x="6911065" y="6888"/>
                    </a:cubicBezTo>
                    <a:cubicBezTo>
                      <a:pt x="6915476" y="11299"/>
                      <a:pt x="6917953" y="17280"/>
                      <a:pt x="6917953" y="23518"/>
                    </a:cubicBezTo>
                    <a:lnTo>
                      <a:pt x="6917953" y="490336"/>
                    </a:lnTo>
                    <a:cubicBezTo>
                      <a:pt x="6917953" y="503324"/>
                      <a:pt x="6907424" y="513853"/>
                      <a:pt x="6894436" y="513853"/>
                    </a:cubicBezTo>
                    <a:lnTo>
                      <a:pt x="23518" y="513853"/>
                    </a:lnTo>
                    <a:cubicBezTo>
                      <a:pt x="10529" y="513853"/>
                      <a:pt x="0" y="503324"/>
                      <a:pt x="0" y="490336"/>
                    </a:cubicBezTo>
                    <a:lnTo>
                      <a:pt x="0" y="23518"/>
                    </a:lnTo>
                    <a:cubicBezTo>
                      <a:pt x="0" y="10529"/>
                      <a:pt x="10529" y="0"/>
                      <a:pt x="23518" y="0"/>
                    </a:cubicBezTo>
                    <a:close/>
                  </a:path>
                </a:pathLst>
              </a:custGeom>
              <a:solidFill>
                <a:srgbClr val="2B5895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66675"/>
                <a:ext cx="6917953" cy="580528"/>
              </a:xfrm>
              <a:prstGeom prst="rect">
                <a:avLst/>
              </a:prstGeom>
            </p:spPr>
            <p:txBody>
              <a:bodyPr anchor="ctr" rtlCol="false" tIns="32470" lIns="32470" bIns="32470" rIns="32470"/>
              <a:lstStyle/>
              <a:p>
                <a:pPr algn="just">
                  <a:lnSpc>
                    <a:spcPts val="364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597628" y="482975"/>
              <a:ext cx="20050482" cy="5910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38"/>
                </a:lnSpc>
                <a:spcBef>
                  <a:spcPct val="0"/>
                </a:spcBef>
              </a:pPr>
              <a:r>
                <a:rPr lang="en-US" b="true" sz="2670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Be</a:t>
              </a:r>
              <a:r>
                <a:rPr lang="en-US" b="true" sz="2670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amforming adjusts phase &amp; amplitude of antenna elements to focus energy toward the UE.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24244" y="5143500"/>
            <a:ext cx="15735808" cy="2486369"/>
            <a:chOff x="0" y="0"/>
            <a:chExt cx="20981077" cy="3315159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0981077" cy="3315159"/>
              <a:chOff x="0" y="0"/>
              <a:chExt cx="5823591" cy="92016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5823591" cy="920169"/>
              </a:xfrm>
              <a:custGeom>
                <a:avLst/>
                <a:gdLst/>
                <a:ahLst/>
                <a:cxnLst/>
                <a:rect r="r" b="b" t="t" l="l"/>
                <a:pathLst>
                  <a:path h="920169" w="5823591">
                    <a:moveTo>
                      <a:pt x="30462" y="0"/>
                    </a:moveTo>
                    <a:lnTo>
                      <a:pt x="5793129" y="0"/>
                    </a:lnTo>
                    <a:cubicBezTo>
                      <a:pt x="5809953" y="0"/>
                      <a:pt x="5823591" y="13638"/>
                      <a:pt x="5823591" y="30462"/>
                    </a:cubicBezTo>
                    <a:lnTo>
                      <a:pt x="5823591" y="889706"/>
                    </a:lnTo>
                    <a:cubicBezTo>
                      <a:pt x="5823591" y="897785"/>
                      <a:pt x="5820382" y="905534"/>
                      <a:pt x="5814669" y="911247"/>
                    </a:cubicBezTo>
                    <a:cubicBezTo>
                      <a:pt x="5808956" y="916959"/>
                      <a:pt x="5801208" y="920169"/>
                      <a:pt x="5793129" y="920169"/>
                    </a:cubicBezTo>
                    <a:lnTo>
                      <a:pt x="30462" y="920169"/>
                    </a:lnTo>
                    <a:cubicBezTo>
                      <a:pt x="22383" y="920169"/>
                      <a:pt x="14635" y="916959"/>
                      <a:pt x="8922" y="911247"/>
                    </a:cubicBezTo>
                    <a:cubicBezTo>
                      <a:pt x="3209" y="905534"/>
                      <a:pt x="0" y="897785"/>
                      <a:pt x="0" y="889706"/>
                    </a:cubicBezTo>
                    <a:lnTo>
                      <a:pt x="0" y="30462"/>
                    </a:lnTo>
                    <a:cubicBezTo>
                      <a:pt x="0" y="22383"/>
                      <a:pt x="3209" y="14635"/>
                      <a:pt x="8922" y="8922"/>
                    </a:cubicBezTo>
                    <a:cubicBezTo>
                      <a:pt x="14635" y="3209"/>
                      <a:pt x="22383" y="0"/>
                      <a:pt x="30462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66675"/>
                <a:ext cx="5823591" cy="986844"/>
              </a:xfrm>
              <a:prstGeom prst="rect">
                <a:avLst/>
              </a:prstGeom>
            </p:spPr>
            <p:txBody>
              <a:bodyPr anchor="ctr" rtlCol="false" tIns="39524" lIns="39524" bIns="39524" rIns="39524"/>
              <a:lstStyle/>
              <a:p>
                <a:pPr algn="just">
                  <a:lnSpc>
                    <a:spcPts val="406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631427" y="214123"/>
              <a:ext cx="19718223" cy="27949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193"/>
                </a:lnSpc>
              </a:pPr>
              <a:r>
                <a:rPr lang="en-US" sz="2995" b="true">
                  <a:solidFill>
                    <a:srgbClr val="273A45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+ Improves SNR → higher data rate &amp; more stable connection.</a:t>
              </a:r>
            </a:p>
            <a:p>
              <a:pPr algn="just">
                <a:lnSpc>
                  <a:spcPts val="4193"/>
                </a:lnSpc>
              </a:pPr>
              <a:r>
                <a:rPr lang="en-US" sz="2995" b="true">
                  <a:solidFill>
                    <a:srgbClr val="273A45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+ Reduces interference to nearby areas, especially in dense indoor deployments.</a:t>
              </a:r>
            </a:p>
            <a:p>
              <a:pPr algn="just">
                <a:lnSpc>
                  <a:spcPts val="4193"/>
                </a:lnSpc>
              </a:pPr>
              <a:r>
                <a:rPr lang="en-US" sz="2995" b="true">
                  <a:solidFill>
                    <a:srgbClr val="273A45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+ Enhances coverage &amp; supports static and moving users via dynamic beams.</a:t>
              </a:r>
            </a:p>
            <a:p>
              <a:pPr algn="just">
                <a:lnSpc>
                  <a:spcPts val="4193"/>
                </a:lnSpc>
                <a:spcBef>
                  <a:spcPct val="0"/>
                </a:spcBef>
              </a:pPr>
              <a:r>
                <a:rPr lang="en-US" b="true" sz="2995">
                  <a:solidFill>
                    <a:srgbClr val="273A45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+ Effective in malls, stadiums, and scattered-signal environments.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4433" y="-2046607"/>
            <a:ext cx="19296866" cy="4574304"/>
            <a:chOff x="0" y="0"/>
            <a:chExt cx="25729155" cy="60990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72578" y="0"/>
              <a:ext cx="24384000" cy="4811609"/>
            </a:xfrm>
            <a:custGeom>
              <a:avLst/>
              <a:gdLst/>
              <a:ahLst/>
              <a:cxnLst/>
              <a:rect r="r" b="b" t="t" l="l"/>
              <a:pathLst>
                <a:path h="481160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11609"/>
                  </a:lnTo>
                  <a:lnTo>
                    <a:pt x="0" y="48116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84715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4704330" y="2944142"/>
              <a:ext cx="16320494" cy="1475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099"/>
                </a:lnSpc>
              </a:pPr>
              <a:r>
                <a:rPr lang="en-US" b="true" sz="6999">
                  <a:solidFill>
                    <a:srgbClr val="FFFFFF"/>
                  </a:solidFill>
                  <a:latin typeface="K2D Bold"/>
                  <a:ea typeface="K2D Bold"/>
                  <a:cs typeface="K2D Bold"/>
                  <a:sym typeface="K2D Bold"/>
                </a:rPr>
                <a:t>PART 4. NEW KNOWLEDGE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4812014"/>
              <a:ext cx="25729155" cy="1287057"/>
              <a:chOff x="0" y="0"/>
              <a:chExt cx="5082302" cy="25423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082302" cy="254234"/>
              </a:xfrm>
              <a:custGeom>
                <a:avLst/>
                <a:gdLst/>
                <a:ahLst/>
                <a:cxnLst/>
                <a:rect r="r" b="b" t="t" l="l"/>
                <a:pathLst>
                  <a:path h="254234" w="5082302">
                    <a:moveTo>
                      <a:pt x="20461" y="0"/>
                    </a:moveTo>
                    <a:lnTo>
                      <a:pt x="5061841" y="0"/>
                    </a:lnTo>
                    <a:cubicBezTo>
                      <a:pt x="5073142" y="0"/>
                      <a:pt x="5082302" y="9161"/>
                      <a:pt x="5082302" y="20461"/>
                    </a:cubicBezTo>
                    <a:lnTo>
                      <a:pt x="5082302" y="233772"/>
                    </a:lnTo>
                    <a:cubicBezTo>
                      <a:pt x="5082302" y="245073"/>
                      <a:pt x="5073142" y="254234"/>
                      <a:pt x="5061841" y="254234"/>
                    </a:cubicBezTo>
                    <a:lnTo>
                      <a:pt x="20461" y="254234"/>
                    </a:lnTo>
                    <a:cubicBezTo>
                      <a:pt x="9161" y="254234"/>
                      <a:pt x="0" y="245073"/>
                      <a:pt x="0" y="233772"/>
                    </a:cubicBezTo>
                    <a:lnTo>
                      <a:pt x="0" y="20461"/>
                    </a:lnTo>
                    <a:cubicBezTo>
                      <a:pt x="0" y="9161"/>
                      <a:pt x="9161" y="0"/>
                      <a:pt x="20461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5082302" cy="3209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672578" y="4904151"/>
              <a:ext cx="24384000" cy="1055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00"/>
                </a:lnSpc>
              </a:pPr>
              <a:r>
                <a:rPr lang="en-US" b="true" sz="5000">
                  <a:solidFill>
                    <a:srgbClr val="153969"/>
                  </a:solidFill>
                  <a:latin typeface="K2D Bold"/>
                  <a:ea typeface="K2D Bold"/>
                  <a:cs typeface="K2D Bold"/>
                  <a:sym typeface="K2D Bold"/>
                </a:rPr>
                <a:t>4.2. Massive MIMO and MU-MIMO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24996" y="2827347"/>
            <a:ext cx="15934304" cy="2549272"/>
            <a:chOff x="0" y="0"/>
            <a:chExt cx="21245739" cy="339903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1196580"/>
              <a:ext cx="21245739" cy="2202450"/>
              <a:chOff x="0" y="0"/>
              <a:chExt cx="6917953" cy="71715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917953" cy="717153"/>
              </a:xfrm>
              <a:custGeom>
                <a:avLst/>
                <a:gdLst/>
                <a:ahLst/>
                <a:cxnLst/>
                <a:rect r="r" b="b" t="t" l="l"/>
                <a:pathLst>
                  <a:path h="717153" w="6917953">
                    <a:moveTo>
                      <a:pt x="24779" y="0"/>
                    </a:moveTo>
                    <a:lnTo>
                      <a:pt x="6893174" y="0"/>
                    </a:lnTo>
                    <a:cubicBezTo>
                      <a:pt x="6899746" y="0"/>
                      <a:pt x="6906048" y="2611"/>
                      <a:pt x="6910695" y="7258"/>
                    </a:cubicBezTo>
                    <a:cubicBezTo>
                      <a:pt x="6915342" y="11905"/>
                      <a:pt x="6917953" y="18207"/>
                      <a:pt x="6917953" y="24779"/>
                    </a:cubicBezTo>
                    <a:lnTo>
                      <a:pt x="6917953" y="692374"/>
                    </a:lnTo>
                    <a:cubicBezTo>
                      <a:pt x="6917953" y="706059"/>
                      <a:pt x="6906859" y="717153"/>
                      <a:pt x="6893174" y="717153"/>
                    </a:cubicBezTo>
                    <a:lnTo>
                      <a:pt x="24779" y="717153"/>
                    </a:lnTo>
                    <a:cubicBezTo>
                      <a:pt x="18207" y="717153"/>
                      <a:pt x="11905" y="714542"/>
                      <a:pt x="7258" y="709895"/>
                    </a:cubicBezTo>
                    <a:cubicBezTo>
                      <a:pt x="2611" y="705248"/>
                      <a:pt x="0" y="698946"/>
                      <a:pt x="0" y="692374"/>
                    </a:cubicBezTo>
                    <a:lnTo>
                      <a:pt x="0" y="24779"/>
                    </a:lnTo>
                    <a:cubicBezTo>
                      <a:pt x="0" y="11094"/>
                      <a:pt x="11094" y="0"/>
                      <a:pt x="24779" y="0"/>
                    </a:cubicBezTo>
                    <a:close/>
                  </a:path>
                </a:pathLst>
              </a:custGeom>
              <a:solidFill>
                <a:srgbClr val="2B5895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66675"/>
                <a:ext cx="6917953" cy="783828"/>
              </a:xfrm>
              <a:prstGeom prst="rect">
                <a:avLst/>
              </a:prstGeom>
            </p:spPr>
            <p:txBody>
              <a:bodyPr anchor="ctr" rtlCol="false" tIns="30817" lIns="30817" bIns="30817" rIns="30817"/>
              <a:lstStyle/>
              <a:p>
                <a:pPr algn="just">
                  <a:lnSpc>
                    <a:spcPts val="364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597628" y="1679555"/>
              <a:ext cx="20050482" cy="12154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38"/>
                </a:lnSpc>
                <a:spcBef>
                  <a:spcPct val="0"/>
                </a:spcBef>
              </a:pPr>
              <a:r>
                <a:rPr lang="en-US" b="true" sz="2670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Allows a UE with multiple antenn</a:t>
              </a:r>
              <a:r>
                <a:rPr lang="en-US" b="true" sz="2670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as to simultaneously receive multiple data streams from the base station, increasing transmission speed without requiring additional bandwidth.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9279796" y="0"/>
              <a:ext cx="1628579" cy="1576042"/>
              <a:chOff x="0" y="0"/>
              <a:chExt cx="530291" cy="513185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530291" cy="513185"/>
              </a:xfrm>
              <a:custGeom>
                <a:avLst/>
                <a:gdLst/>
                <a:ahLst/>
                <a:cxnLst/>
                <a:rect r="r" b="b" t="t" l="l"/>
                <a:pathLst>
                  <a:path h="513185" w="530291">
                    <a:moveTo>
                      <a:pt x="256592" y="0"/>
                    </a:moveTo>
                    <a:lnTo>
                      <a:pt x="273699" y="0"/>
                    </a:lnTo>
                    <a:cubicBezTo>
                      <a:pt x="415411" y="0"/>
                      <a:pt x="530291" y="114880"/>
                      <a:pt x="530291" y="256592"/>
                    </a:cubicBezTo>
                    <a:lnTo>
                      <a:pt x="530291" y="256592"/>
                    </a:lnTo>
                    <a:cubicBezTo>
                      <a:pt x="530291" y="324645"/>
                      <a:pt x="503258" y="389910"/>
                      <a:pt x="455137" y="438030"/>
                    </a:cubicBezTo>
                    <a:cubicBezTo>
                      <a:pt x="407017" y="486151"/>
                      <a:pt x="341752" y="513185"/>
                      <a:pt x="273699" y="513185"/>
                    </a:cubicBezTo>
                    <a:lnTo>
                      <a:pt x="256592" y="513185"/>
                    </a:lnTo>
                    <a:cubicBezTo>
                      <a:pt x="188540" y="513185"/>
                      <a:pt x="123275" y="486151"/>
                      <a:pt x="75154" y="438030"/>
                    </a:cubicBezTo>
                    <a:cubicBezTo>
                      <a:pt x="27034" y="389910"/>
                      <a:pt x="0" y="324645"/>
                      <a:pt x="0" y="256592"/>
                    </a:cubicBezTo>
                    <a:lnTo>
                      <a:pt x="0" y="256592"/>
                    </a:lnTo>
                    <a:cubicBezTo>
                      <a:pt x="0" y="188540"/>
                      <a:pt x="27034" y="123275"/>
                      <a:pt x="75154" y="75154"/>
                    </a:cubicBezTo>
                    <a:cubicBezTo>
                      <a:pt x="123275" y="27034"/>
                      <a:pt x="188540" y="0"/>
                      <a:pt x="256592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66675"/>
                <a:ext cx="530291" cy="579860"/>
              </a:xfrm>
              <a:prstGeom prst="rect">
                <a:avLst/>
              </a:prstGeom>
            </p:spPr>
            <p:txBody>
              <a:bodyPr anchor="ctr" rtlCol="false" tIns="30817" lIns="30817" bIns="30817" rIns="30817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9325607" y="482975"/>
              <a:ext cx="1536958" cy="5890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38"/>
                </a:lnSpc>
                <a:spcBef>
                  <a:spcPct val="0"/>
                </a:spcBef>
              </a:pPr>
              <a:r>
                <a:rPr lang="en-US" b="true" sz="2670">
                  <a:solidFill>
                    <a:srgbClr val="153969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MIMO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24996" y="6048312"/>
            <a:ext cx="15934304" cy="3453983"/>
            <a:chOff x="0" y="0"/>
            <a:chExt cx="21245739" cy="460531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1788348"/>
              <a:ext cx="21245739" cy="2560308"/>
              <a:chOff x="0" y="0"/>
              <a:chExt cx="6917953" cy="83367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917953" cy="833677"/>
              </a:xfrm>
              <a:custGeom>
                <a:avLst/>
                <a:gdLst/>
                <a:ahLst/>
                <a:cxnLst/>
                <a:rect r="r" b="b" t="t" l="l"/>
                <a:pathLst>
                  <a:path h="833677" w="6917953">
                    <a:moveTo>
                      <a:pt x="24779" y="0"/>
                    </a:moveTo>
                    <a:lnTo>
                      <a:pt x="6893174" y="0"/>
                    </a:lnTo>
                    <a:cubicBezTo>
                      <a:pt x="6899746" y="0"/>
                      <a:pt x="6906048" y="2611"/>
                      <a:pt x="6910695" y="7258"/>
                    </a:cubicBezTo>
                    <a:cubicBezTo>
                      <a:pt x="6915342" y="11905"/>
                      <a:pt x="6917953" y="18207"/>
                      <a:pt x="6917953" y="24779"/>
                    </a:cubicBezTo>
                    <a:lnTo>
                      <a:pt x="6917953" y="808898"/>
                    </a:lnTo>
                    <a:cubicBezTo>
                      <a:pt x="6917953" y="822583"/>
                      <a:pt x="6906859" y="833677"/>
                      <a:pt x="6893174" y="833677"/>
                    </a:cubicBezTo>
                    <a:lnTo>
                      <a:pt x="24779" y="833677"/>
                    </a:lnTo>
                    <a:cubicBezTo>
                      <a:pt x="18207" y="833677"/>
                      <a:pt x="11905" y="831067"/>
                      <a:pt x="7258" y="826420"/>
                    </a:cubicBezTo>
                    <a:cubicBezTo>
                      <a:pt x="2611" y="821773"/>
                      <a:pt x="0" y="815470"/>
                      <a:pt x="0" y="808898"/>
                    </a:cubicBezTo>
                    <a:lnTo>
                      <a:pt x="0" y="24779"/>
                    </a:lnTo>
                    <a:cubicBezTo>
                      <a:pt x="0" y="11094"/>
                      <a:pt x="11094" y="0"/>
                      <a:pt x="24779" y="0"/>
                    </a:cubicBezTo>
                    <a:close/>
                  </a:path>
                </a:pathLst>
              </a:custGeom>
              <a:solidFill>
                <a:srgbClr val="2B5895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66675"/>
                <a:ext cx="6917953" cy="900352"/>
              </a:xfrm>
              <a:prstGeom prst="rect">
                <a:avLst/>
              </a:prstGeom>
            </p:spPr>
            <p:txBody>
              <a:bodyPr anchor="ctr" rtlCol="false" tIns="30817" lIns="30817" bIns="30817" rIns="30817"/>
              <a:lstStyle/>
              <a:p>
                <a:pPr algn="just">
                  <a:lnSpc>
                    <a:spcPts val="364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597628" y="2141192"/>
              <a:ext cx="20050482" cy="24641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38"/>
                </a:lnSpc>
                <a:spcBef>
                  <a:spcPct val="0"/>
                </a:spcBef>
              </a:pPr>
              <a:r>
                <a:rPr lang="en-US" b="true" sz="2670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Allows Small Cells to transmit multiple dat</a:t>
              </a:r>
              <a:r>
                <a:rPr lang="en-US" b="true" sz="2670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 streams to multiple UEs at the same time. The streams are spatially separated, reducing cross-user interference. This is a key technique to increase the capacity of Small Cells in densely populated areas.</a:t>
              </a:r>
            </a:p>
            <a:p>
              <a:pPr algn="just">
                <a:lnSpc>
                  <a:spcPts val="3738"/>
                </a:lnSpc>
                <a:spcBef>
                  <a:spcPct val="0"/>
                </a:spcBef>
              </a:pP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8954470" y="0"/>
              <a:ext cx="2279231" cy="2198342"/>
              <a:chOff x="0" y="0"/>
              <a:chExt cx="742154" cy="71581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742154" cy="715815"/>
              </a:xfrm>
              <a:custGeom>
                <a:avLst/>
                <a:gdLst/>
                <a:ahLst/>
                <a:cxnLst/>
                <a:rect r="r" b="b" t="t" l="l"/>
                <a:pathLst>
                  <a:path h="715815" w="742154">
                    <a:moveTo>
                      <a:pt x="230977" y="0"/>
                    </a:moveTo>
                    <a:lnTo>
                      <a:pt x="511177" y="0"/>
                    </a:lnTo>
                    <a:cubicBezTo>
                      <a:pt x="638742" y="0"/>
                      <a:pt x="742154" y="103412"/>
                      <a:pt x="742154" y="230977"/>
                    </a:cubicBezTo>
                    <a:lnTo>
                      <a:pt x="742154" y="484838"/>
                    </a:lnTo>
                    <a:cubicBezTo>
                      <a:pt x="742154" y="546097"/>
                      <a:pt x="717819" y="604847"/>
                      <a:pt x="674503" y="648164"/>
                    </a:cubicBezTo>
                    <a:cubicBezTo>
                      <a:pt x="631186" y="691480"/>
                      <a:pt x="572436" y="715815"/>
                      <a:pt x="511177" y="715815"/>
                    </a:cubicBezTo>
                    <a:lnTo>
                      <a:pt x="230977" y="715815"/>
                    </a:lnTo>
                    <a:cubicBezTo>
                      <a:pt x="103412" y="715815"/>
                      <a:pt x="0" y="612403"/>
                      <a:pt x="0" y="484838"/>
                    </a:cubicBezTo>
                    <a:lnTo>
                      <a:pt x="0" y="230977"/>
                    </a:lnTo>
                    <a:cubicBezTo>
                      <a:pt x="0" y="103412"/>
                      <a:pt x="103412" y="0"/>
                      <a:pt x="230977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66675"/>
                <a:ext cx="742154" cy="782490"/>
              </a:xfrm>
              <a:prstGeom prst="rect">
                <a:avLst/>
              </a:prstGeom>
            </p:spPr>
            <p:txBody>
              <a:bodyPr anchor="ctr" rtlCol="false" tIns="30817" lIns="30817" bIns="30817" rIns="30817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8855920" y="823296"/>
              <a:ext cx="2476331" cy="504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78"/>
                </a:lnSpc>
                <a:spcBef>
                  <a:spcPct val="0"/>
                </a:spcBef>
              </a:pPr>
              <a:r>
                <a:rPr lang="en-US" b="true" sz="2270">
                  <a:solidFill>
                    <a:srgbClr val="153969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MU - MIMO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4433" y="-2046607"/>
            <a:ext cx="19296866" cy="4574304"/>
            <a:chOff x="0" y="0"/>
            <a:chExt cx="25729155" cy="60990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72578" y="0"/>
              <a:ext cx="24384000" cy="4811609"/>
            </a:xfrm>
            <a:custGeom>
              <a:avLst/>
              <a:gdLst/>
              <a:ahLst/>
              <a:cxnLst/>
              <a:rect r="r" b="b" t="t" l="l"/>
              <a:pathLst>
                <a:path h="481160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11609"/>
                  </a:lnTo>
                  <a:lnTo>
                    <a:pt x="0" y="48116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84715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4704330" y="2944142"/>
              <a:ext cx="16320494" cy="1475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099"/>
                </a:lnSpc>
              </a:pPr>
              <a:r>
                <a:rPr lang="en-US" b="true" sz="6999">
                  <a:solidFill>
                    <a:srgbClr val="FFFFFF"/>
                  </a:solidFill>
                  <a:latin typeface="K2D Bold"/>
                  <a:ea typeface="K2D Bold"/>
                  <a:cs typeface="K2D Bold"/>
                  <a:sym typeface="K2D Bold"/>
                </a:rPr>
                <a:t>PART 4. NEW KNOWLEDGE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4812014"/>
              <a:ext cx="25729155" cy="1287057"/>
              <a:chOff x="0" y="0"/>
              <a:chExt cx="5082302" cy="25423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082302" cy="254234"/>
              </a:xfrm>
              <a:custGeom>
                <a:avLst/>
                <a:gdLst/>
                <a:ahLst/>
                <a:cxnLst/>
                <a:rect r="r" b="b" t="t" l="l"/>
                <a:pathLst>
                  <a:path h="254234" w="5082302">
                    <a:moveTo>
                      <a:pt x="20461" y="0"/>
                    </a:moveTo>
                    <a:lnTo>
                      <a:pt x="5061841" y="0"/>
                    </a:lnTo>
                    <a:cubicBezTo>
                      <a:pt x="5073142" y="0"/>
                      <a:pt x="5082302" y="9161"/>
                      <a:pt x="5082302" y="20461"/>
                    </a:cubicBezTo>
                    <a:lnTo>
                      <a:pt x="5082302" y="233772"/>
                    </a:lnTo>
                    <a:cubicBezTo>
                      <a:pt x="5082302" y="245073"/>
                      <a:pt x="5073142" y="254234"/>
                      <a:pt x="5061841" y="254234"/>
                    </a:cubicBezTo>
                    <a:lnTo>
                      <a:pt x="20461" y="254234"/>
                    </a:lnTo>
                    <a:cubicBezTo>
                      <a:pt x="9161" y="254234"/>
                      <a:pt x="0" y="245073"/>
                      <a:pt x="0" y="233772"/>
                    </a:cubicBezTo>
                    <a:lnTo>
                      <a:pt x="0" y="20461"/>
                    </a:lnTo>
                    <a:cubicBezTo>
                      <a:pt x="0" y="9161"/>
                      <a:pt x="9161" y="0"/>
                      <a:pt x="20461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5082302" cy="3209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672578" y="4904151"/>
              <a:ext cx="24384000" cy="1055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00"/>
                </a:lnSpc>
              </a:pPr>
              <a:r>
                <a:rPr lang="en-US" b="true" sz="5000">
                  <a:solidFill>
                    <a:srgbClr val="153969"/>
                  </a:solidFill>
                  <a:latin typeface="K2D Bold"/>
                  <a:ea typeface="K2D Bold"/>
                  <a:cs typeface="K2D Bold"/>
                  <a:sym typeface="K2D Bold"/>
                </a:rPr>
                <a:t>4.3. Combining Beamforming and MIMO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23492" y="3783134"/>
            <a:ext cx="15735808" cy="4325511"/>
            <a:chOff x="0" y="0"/>
            <a:chExt cx="20981077" cy="576734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0981077" cy="4772160"/>
              <a:chOff x="0" y="0"/>
              <a:chExt cx="5823591" cy="132458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5823591" cy="1324580"/>
              </a:xfrm>
              <a:custGeom>
                <a:avLst/>
                <a:gdLst/>
                <a:ahLst/>
                <a:cxnLst/>
                <a:rect r="r" b="b" t="t" l="l"/>
                <a:pathLst>
                  <a:path h="1324580" w="5823591">
                    <a:moveTo>
                      <a:pt x="25092" y="0"/>
                    </a:moveTo>
                    <a:lnTo>
                      <a:pt x="5798500" y="0"/>
                    </a:lnTo>
                    <a:cubicBezTo>
                      <a:pt x="5812357" y="0"/>
                      <a:pt x="5823591" y="11234"/>
                      <a:pt x="5823591" y="25092"/>
                    </a:cubicBezTo>
                    <a:lnTo>
                      <a:pt x="5823591" y="1299488"/>
                    </a:lnTo>
                    <a:cubicBezTo>
                      <a:pt x="5823591" y="1313346"/>
                      <a:pt x="5812357" y="1324580"/>
                      <a:pt x="5798500" y="1324580"/>
                    </a:cubicBezTo>
                    <a:lnTo>
                      <a:pt x="25092" y="1324580"/>
                    </a:lnTo>
                    <a:cubicBezTo>
                      <a:pt x="11234" y="1324580"/>
                      <a:pt x="0" y="1313346"/>
                      <a:pt x="0" y="1299488"/>
                    </a:cubicBezTo>
                    <a:lnTo>
                      <a:pt x="0" y="25092"/>
                    </a:lnTo>
                    <a:cubicBezTo>
                      <a:pt x="0" y="11234"/>
                      <a:pt x="11234" y="0"/>
                      <a:pt x="25092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66675"/>
                <a:ext cx="5823591" cy="1391255"/>
              </a:xfrm>
              <a:prstGeom prst="rect">
                <a:avLst/>
              </a:prstGeom>
            </p:spPr>
            <p:txBody>
              <a:bodyPr anchor="ctr" rtlCol="false" tIns="47984" lIns="47984" bIns="47984" rIns="47984"/>
              <a:lstStyle/>
              <a:p>
                <a:pPr algn="just">
                  <a:lnSpc>
                    <a:spcPts val="406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631427" y="214123"/>
              <a:ext cx="19718223" cy="5553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3"/>
                </a:lnSpc>
              </a:pPr>
              <a:r>
                <a:rPr lang="en-US" sz="2995" b="true">
                  <a:solidFill>
                    <a:srgbClr val="273A45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Beamforming directs and optimizes each data stream; MIMO creates multiple independent streams. This combination helps:</a:t>
              </a:r>
            </a:p>
            <a:p>
              <a:pPr algn="l">
                <a:lnSpc>
                  <a:spcPts val="4193"/>
                </a:lnSpc>
              </a:pPr>
              <a:r>
                <a:rPr lang="en-US" sz="2995" b="true">
                  <a:solidFill>
                    <a:srgbClr val="273A45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+ Increase overall cell speed,</a:t>
              </a:r>
            </a:p>
            <a:p>
              <a:pPr algn="l">
                <a:lnSpc>
                  <a:spcPts val="4193"/>
                </a:lnSpc>
              </a:pPr>
              <a:r>
                <a:rPr lang="en-US" sz="2995" b="true">
                  <a:solidFill>
                    <a:srgbClr val="273A45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+ Reduce interference between users,</a:t>
              </a:r>
            </a:p>
            <a:p>
              <a:pPr algn="l">
                <a:lnSpc>
                  <a:spcPts val="4193"/>
                </a:lnSpc>
              </a:pPr>
              <a:r>
                <a:rPr lang="en-US" sz="2995" b="true">
                  <a:solidFill>
                    <a:srgbClr val="273A45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+ Optimize coverage and spectral efficiency,</a:t>
              </a:r>
            </a:p>
            <a:p>
              <a:pPr algn="l">
                <a:lnSpc>
                  <a:spcPts val="4193"/>
                </a:lnSpc>
              </a:pPr>
              <a:r>
                <a:rPr lang="en-US" sz="2995" b="true">
                  <a:solidFill>
                    <a:srgbClr val="273A45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+ Ensure a stable experience even in complex indoor environments.</a:t>
              </a:r>
            </a:p>
            <a:p>
              <a:pPr algn="l">
                <a:lnSpc>
                  <a:spcPts val="4193"/>
                </a:lnSpc>
              </a:pPr>
            </a:p>
            <a:p>
              <a:pPr algn="l">
                <a:lnSpc>
                  <a:spcPts val="4193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401619" y="-1836715"/>
            <a:ext cx="13960430" cy="13960430"/>
          </a:xfrm>
          <a:custGeom>
            <a:avLst/>
            <a:gdLst/>
            <a:ahLst/>
            <a:cxnLst/>
            <a:rect r="r" b="b" t="t" l="l"/>
            <a:pathLst>
              <a:path h="13960430" w="13960430">
                <a:moveTo>
                  <a:pt x="0" y="0"/>
                </a:moveTo>
                <a:lnTo>
                  <a:pt x="13960431" y="0"/>
                </a:lnTo>
                <a:lnTo>
                  <a:pt x="13960431" y="13960430"/>
                </a:lnTo>
                <a:lnTo>
                  <a:pt x="0" y="13960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2525" y="4606757"/>
            <a:ext cx="7568926" cy="1151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b="true" sz="6800">
                <a:solidFill>
                  <a:srgbClr val="FFDE59"/>
                </a:solidFill>
                <a:latin typeface="K2D Bold"/>
                <a:ea typeface="K2D Bold"/>
                <a:cs typeface="K2D Bold"/>
                <a:sym typeface="K2D Bold"/>
              </a:rPr>
              <a:t> 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664733"/>
            <a:ext cx="6070698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000" b="true">
                <a:solidFill>
                  <a:srgbClr val="2A2E3A"/>
                </a:solidFill>
                <a:latin typeface="K2D Bold"/>
                <a:ea typeface="K2D Bold"/>
                <a:cs typeface="K2D Bold"/>
                <a:sym typeface="K2D Bold"/>
              </a:rPr>
              <a:t>PART 5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4433" y="-2046607"/>
            <a:ext cx="19296866" cy="4574304"/>
            <a:chOff x="0" y="0"/>
            <a:chExt cx="25729155" cy="60990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72578" y="0"/>
              <a:ext cx="24384000" cy="4811609"/>
            </a:xfrm>
            <a:custGeom>
              <a:avLst/>
              <a:gdLst/>
              <a:ahLst/>
              <a:cxnLst/>
              <a:rect r="r" b="b" t="t" l="l"/>
              <a:pathLst>
                <a:path h="481160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11609"/>
                  </a:lnTo>
                  <a:lnTo>
                    <a:pt x="0" y="48116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84715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4704330" y="2944142"/>
              <a:ext cx="16320494" cy="1475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099"/>
                </a:lnSpc>
              </a:pPr>
              <a:r>
                <a:rPr lang="en-US" b="true" sz="6999">
                  <a:solidFill>
                    <a:srgbClr val="FFFFFF"/>
                  </a:solidFill>
                  <a:latin typeface="K2D Bold"/>
                  <a:ea typeface="K2D Bold"/>
                  <a:cs typeface="K2D Bold"/>
                  <a:sym typeface="K2D Bold"/>
                </a:rPr>
                <a:t>PART 5.  CONCLUSION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4812014"/>
              <a:ext cx="25729155" cy="1287057"/>
              <a:chOff x="0" y="0"/>
              <a:chExt cx="5082302" cy="25423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082302" cy="254234"/>
              </a:xfrm>
              <a:custGeom>
                <a:avLst/>
                <a:gdLst/>
                <a:ahLst/>
                <a:cxnLst/>
                <a:rect r="r" b="b" t="t" l="l"/>
                <a:pathLst>
                  <a:path h="254234" w="5082302">
                    <a:moveTo>
                      <a:pt x="20461" y="0"/>
                    </a:moveTo>
                    <a:lnTo>
                      <a:pt x="5061841" y="0"/>
                    </a:lnTo>
                    <a:cubicBezTo>
                      <a:pt x="5073142" y="0"/>
                      <a:pt x="5082302" y="9161"/>
                      <a:pt x="5082302" y="20461"/>
                    </a:cubicBezTo>
                    <a:lnTo>
                      <a:pt x="5082302" y="233772"/>
                    </a:lnTo>
                    <a:cubicBezTo>
                      <a:pt x="5082302" y="245073"/>
                      <a:pt x="5073142" y="254234"/>
                      <a:pt x="5061841" y="254234"/>
                    </a:cubicBezTo>
                    <a:lnTo>
                      <a:pt x="20461" y="254234"/>
                    </a:lnTo>
                    <a:cubicBezTo>
                      <a:pt x="9161" y="254234"/>
                      <a:pt x="0" y="245073"/>
                      <a:pt x="0" y="233772"/>
                    </a:cubicBezTo>
                    <a:lnTo>
                      <a:pt x="0" y="20461"/>
                    </a:lnTo>
                    <a:cubicBezTo>
                      <a:pt x="0" y="9161"/>
                      <a:pt x="9161" y="0"/>
                      <a:pt x="20461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5082302" cy="3209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 rot="0">
            <a:off x="1523492" y="2733958"/>
            <a:ext cx="15735808" cy="7231927"/>
            <a:chOff x="0" y="0"/>
            <a:chExt cx="20981077" cy="964256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20981077" cy="9642569"/>
              <a:chOff x="0" y="0"/>
              <a:chExt cx="5823591" cy="267643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823591" cy="2676430"/>
              </a:xfrm>
              <a:custGeom>
                <a:avLst/>
                <a:gdLst/>
                <a:ahLst/>
                <a:cxnLst/>
                <a:rect r="r" b="b" t="t" l="l"/>
                <a:pathLst>
                  <a:path h="2676430" w="5823591">
                    <a:moveTo>
                      <a:pt x="25092" y="0"/>
                    </a:moveTo>
                    <a:lnTo>
                      <a:pt x="5798500" y="0"/>
                    </a:lnTo>
                    <a:cubicBezTo>
                      <a:pt x="5812357" y="0"/>
                      <a:pt x="5823591" y="11234"/>
                      <a:pt x="5823591" y="25092"/>
                    </a:cubicBezTo>
                    <a:lnTo>
                      <a:pt x="5823591" y="2651338"/>
                    </a:lnTo>
                    <a:cubicBezTo>
                      <a:pt x="5823591" y="2665196"/>
                      <a:pt x="5812357" y="2676430"/>
                      <a:pt x="5798500" y="2676430"/>
                    </a:cubicBezTo>
                    <a:lnTo>
                      <a:pt x="25092" y="2676430"/>
                    </a:lnTo>
                    <a:cubicBezTo>
                      <a:pt x="11234" y="2676430"/>
                      <a:pt x="0" y="2665196"/>
                      <a:pt x="0" y="2651338"/>
                    </a:cubicBezTo>
                    <a:lnTo>
                      <a:pt x="0" y="25092"/>
                    </a:lnTo>
                    <a:cubicBezTo>
                      <a:pt x="0" y="11234"/>
                      <a:pt x="11234" y="0"/>
                      <a:pt x="25092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66675"/>
                <a:ext cx="5823591" cy="2743105"/>
              </a:xfrm>
              <a:prstGeom prst="rect">
                <a:avLst/>
              </a:prstGeom>
            </p:spPr>
            <p:txBody>
              <a:bodyPr anchor="ctr" rtlCol="false" tIns="47984" lIns="47984" bIns="47984" rIns="47984"/>
              <a:lstStyle/>
              <a:p>
                <a:pPr algn="just">
                  <a:lnSpc>
                    <a:spcPts val="4060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234382" y="179148"/>
              <a:ext cx="20512313" cy="92175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3"/>
                </a:lnSpc>
              </a:pPr>
            </a:p>
            <a:p>
              <a:pPr algn="l">
                <a:lnSpc>
                  <a:spcPts val="3913"/>
                </a:lnSpc>
              </a:pPr>
              <a:r>
                <a:rPr lang="en-US" sz="2795" b="true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+ 5G Small C</a:t>
              </a:r>
              <a:r>
                <a:rPr lang="en-US" sz="2795" b="true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ells are essential complements to Macro networks, especially indoors and in crowded areas.</a:t>
              </a:r>
            </a:p>
            <a:p>
              <a:pPr algn="l">
                <a:lnSpc>
                  <a:spcPts val="3913"/>
                </a:lnSpc>
              </a:pPr>
              <a:r>
                <a:rPr lang="en-US" sz="2795" b="true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+ They operate on a low-latency, high-reliability optical–IP transport system (DWDM, OTN, IP/MPLS, Metro, Access, Backhaul).</a:t>
              </a:r>
            </a:p>
            <a:p>
              <a:pPr algn="l">
                <a:lnSpc>
                  <a:spcPts val="3913"/>
                </a:lnSpc>
              </a:pPr>
              <a:r>
                <a:rPr lang="en-US" sz="2795" b="true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+ Core DSP techniques: OFDM, QAM, sampling–quantization, baseband/passband, Shannon, CRC, LDPC/Polar.</a:t>
              </a:r>
            </a:p>
            <a:p>
              <a:pPr algn="l">
                <a:lnSpc>
                  <a:spcPts val="3913"/>
                </a:lnSpc>
              </a:pPr>
              <a:r>
                <a:rPr lang="en-US" sz="2795" b="true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+ Advanced Beamforming &amp; MIMO/MU-MIMO → focused energy, higher throughput, more simultaneous users.</a:t>
              </a:r>
            </a:p>
            <a:p>
              <a:pPr algn="l">
                <a:lnSpc>
                  <a:spcPts val="3913"/>
                </a:lnSpc>
              </a:pPr>
              <a:r>
                <a:rPr lang="en-US" sz="2795" b="true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+ Real-world tests (A80 event) show stable speeds and significant congestion reduction.</a:t>
              </a:r>
            </a:p>
            <a:p>
              <a:pPr algn="l">
                <a:lnSpc>
                  <a:spcPts val="3913"/>
                </a:lnSpc>
              </a:pPr>
              <a:r>
                <a:rPr lang="en-US" sz="2795" b="true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+ In Vietnam, Viettel’s “made-in-Vietnam” Small Cells enhance technological autonomy and fit local deployment conditions.</a:t>
              </a:r>
            </a:p>
            <a:p>
              <a:pPr algn="l">
                <a:lnSpc>
                  <a:spcPts val="3913"/>
                </a:lnSpc>
              </a:pPr>
              <a:r>
                <a:rPr lang="en-US" sz="2795" b="true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+ Crucial for future services: industrial IoT, livestreaming, and low-latency applications.</a:t>
              </a:r>
            </a:p>
            <a:p>
              <a:pPr algn="l">
                <a:lnSpc>
                  <a:spcPts val="3913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507438" y="-2845897"/>
            <a:ext cx="15978794" cy="15978794"/>
          </a:xfrm>
          <a:custGeom>
            <a:avLst/>
            <a:gdLst/>
            <a:ahLst/>
            <a:cxnLst/>
            <a:rect r="r" b="b" t="t" l="l"/>
            <a:pathLst>
              <a:path h="15978794" w="15978794">
                <a:moveTo>
                  <a:pt x="0" y="0"/>
                </a:moveTo>
                <a:lnTo>
                  <a:pt x="15978795" y="0"/>
                </a:lnTo>
                <a:lnTo>
                  <a:pt x="15978795" y="15978794"/>
                </a:lnTo>
                <a:lnTo>
                  <a:pt x="0" y="15978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1168969" y="1028700"/>
            <a:ext cx="1279574" cy="1279569"/>
            <a:chOff x="0" y="0"/>
            <a:chExt cx="6350000" cy="63499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0" t="-14308" r="0" b="-14308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1168969" y="2766208"/>
            <a:ext cx="1279574" cy="1279569"/>
            <a:chOff x="0" y="0"/>
            <a:chExt cx="6350000" cy="63499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 l="0" t="-35119" r="0" b="-35119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1168969" y="7978731"/>
            <a:ext cx="1279574" cy="1279569"/>
            <a:chOff x="0" y="0"/>
            <a:chExt cx="6350000" cy="63499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6"/>
              <a:stretch>
                <a:fillRect l="-2142" t="0" r="-2142" b="0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1168969" y="6241223"/>
            <a:ext cx="1279574" cy="1279569"/>
            <a:chOff x="0" y="0"/>
            <a:chExt cx="6350000" cy="63499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7"/>
              <a:stretch>
                <a:fillRect l="0" t="-37613" r="0" b="-37613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1168969" y="4503715"/>
            <a:ext cx="1279574" cy="1279569"/>
            <a:chOff x="0" y="0"/>
            <a:chExt cx="6350000" cy="63499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8"/>
              <a:stretch>
                <a:fillRect l="0" t="-26370" r="0" b="-2637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35326" y="4325960"/>
            <a:ext cx="6278177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0"/>
              </a:lnSpc>
            </a:pPr>
            <a:r>
              <a:rPr lang="en-US" sz="9000" b="true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TEAM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48543" y="1327172"/>
            <a:ext cx="5839457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153969"/>
                </a:solidFill>
                <a:latin typeface="K2D Bold"/>
                <a:ea typeface="K2D Bold"/>
                <a:cs typeface="K2D Bold"/>
                <a:sym typeface="K2D Bold"/>
              </a:rPr>
              <a:t>ĐẶNG BÁ TRẦN TRUNG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48543" y="3064680"/>
            <a:ext cx="5839457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153969"/>
                </a:solidFill>
                <a:latin typeface="K2D Bold"/>
                <a:ea typeface="K2D Bold"/>
                <a:cs typeface="K2D Bold"/>
                <a:sym typeface="K2D Bold"/>
              </a:rPr>
              <a:t>GIAO HỮU LỰC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48543" y="4798252"/>
            <a:ext cx="5839457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153969"/>
                </a:solidFill>
                <a:latin typeface="K2D Bold"/>
                <a:ea typeface="K2D Bold"/>
                <a:cs typeface="K2D Bold"/>
                <a:sym typeface="K2D Bold"/>
              </a:rPr>
              <a:t>NGUYỄN NGỌC DŨNG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48543" y="6539695"/>
            <a:ext cx="5839457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153969"/>
                </a:solidFill>
                <a:latin typeface="K2D Bold"/>
                <a:ea typeface="K2D Bold"/>
                <a:cs typeface="K2D Bold"/>
                <a:sym typeface="K2D Bold"/>
              </a:rPr>
              <a:t>NGUYỄN ĐỨC SƠN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48543" y="8379460"/>
            <a:ext cx="5839457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153969"/>
                </a:solidFill>
                <a:latin typeface="K2D Bold"/>
                <a:ea typeface="K2D Bold"/>
                <a:cs typeface="K2D Bold"/>
                <a:sym typeface="K2D Bold"/>
              </a:rPr>
              <a:t>LÊ QUANG THÔNG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7166" y="0"/>
            <a:ext cx="18395166" cy="10287000"/>
            <a:chOff x="0" y="0"/>
            <a:chExt cx="484481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4817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44817">
                  <a:moveTo>
                    <a:pt x="0" y="0"/>
                  </a:moveTo>
                  <a:lnTo>
                    <a:pt x="4844817" y="0"/>
                  </a:lnTo>
                  <a:lnTo>
                    <a:pt x="484481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44817" cy="277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333203" y="9678747"/>
            <a:ext cx="1621594" cy="1621594"/>
          </a:xfrm>
          <a:custGeom>
            <a:avLst/>
            <a:gdLst/>
            <a:ahLst/>
            <a:cxnLst/>
            <a:rect r="r" b="b" t="t" l="l"/>
            <a:pathLst>
              <a:path h="1621594" w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31034" y="0"/>
            <a:ext cx="18550068" cy="10287000"/>
            <a:chOff x="0" y="0"/>
            <a:chExt cx="24733424" cy="13716000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4">
              <a:alphaModFix amt="14000"/>
            </a:blip>
            <a:srcRect l="0" t="1799" r="0" b="14965"/>
            <a:stretch>
              <a:fillRect/>
            </a:stretch>
          </p:blipFill>
          <p:spPr>
            <a:xfrm flipH="false" flipV="false">
              <a:off x="0" y="0"/>
              <a:ext cx="24733424" cy="13716000"/>
            </a:xfrm>
            <a:prstGeom prst="rect">
              <a:avLst/>
            </a:prstGeom>
          </p:spPr>
        </p:pic>
      </p:grpSp>
      <p:sp>
        <p:nvSpPr>
          <p:cNvPr name="Freeform 8" id="8"/>
          <p:cNvSpPr/>
          <p:nvPr/>
        </p:nvSpPr>
        <p:spPr>
          <a:xfrm flipH="false" flipV="false" rot="0">
            <a:off x="8479230" y="-664770"/>
            <a:ext cx="1329540" cy="1329540"/>
          </a:xfrm>
          <a:custGeom>
            <a:avLst/>
            <a:gdLst/>
            <a:ahLst/>
            <a:cxnLst/>
            <a:rect r="r" b="b" t="t" l="l"/>
            <a:pathLst>
              <a:path h="1329540" w="1329540">
                <a:moveTo>
                  <a:pt x="0" y="0"/>
                </a:moveTo>
                <a:lnTo>
                  <a:pt x="1329540" y="0"/>
                </a:lnTo>
                <a:lnTo>
                  <a:pt x="1329540" y="1329540"/>
                </a:lnTo>
                <a:lnTo>
                  <a:pt x="0" y="13295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18937" y="3248872"/>
            <a:ext cx="14050126" cy="260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0"/>
              </a:lnSpc>
            </a:pPr>
            <a:r>
              <a:rPr lang="en-US" b="true" sz="80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THANK YOU FOR LISTENING AND FOR YOUR FEEDBACKS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DAG6sesoQNc</dc:identifier>
  <dcterms:modified xsi:type="dcterms:W3CDTF">2011-08-01T06:04:30Z</dcterms:modified>
  <cp:revision>1</cp:revision>
  <dc:title>5G SMALL CELL - TEAM 1</dc:title>
</cp:coreProperties>
</file>